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3"/>
  </p:normalViewPr>
  <p:slideViewPr>
    <p:cSldViewPr snapToGrid="0">
      <p:cViewPr varScale="1">
        <p:scale>
          <a:sx n="126" d="100"/>
          <a:sy n="126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[object Object]</a:t>
            </a:r>
          </a:p>
          <a:p>
            <a:r>
              <a:t>[object Object]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126E53-7679-4D1F-82D8-0C88B767C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5AC46B-4D3B-4122-B00B-BC42FDB78BFC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CHATEXCEL · V0.9 MAX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1893E-463C-4486-8593-15D717846888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4762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125" b="1">
                <a:solidFill>
                  <a:srgbClr val="211A16"/>
                </a:solidFill>
                <a:latin typeface="Songti SC"/>
                <a:ea typeface="Songti SC"/>
                <a:cs typeface="Songti SC"/>
              </a:defRPr>
            </a:pPr>
            <a:r>
              <a:rPr sz="4125" b="1">
                <a:solidFill>
                  <a:srgbClr val="211A16"/>
                </a:solidFill>
                <a:latin typeface="Songti SC"/>
                <a:ea typeface="Songti SC"/>
                <a:cs typeface="Songti SC"/>
              </a:rPr>
              <a:t>ChatExcel</a:t>
            </a:r>
          </a:p>
          <a:p>
            <a:pPr algn="l">
              <a:defRPr sz="4125" b="1">
                <a:solidFill>
                  <a:srgbClr val="211A16"/>
                </a:solidFill>
                <a:latin typeface="Songti SC"/>
                <a:ea typeface="Songti SC"/>
                <a:cs typeface="Songti SC"/>
              </a:defRPr>
            </a:pPr>
            <a:r>
              <a:rPr sz="4125" b="1">
                <a:solidFill>
                  <a:srgbClr val="211A16"/>
                </a:solidFill>
                <a:latin typeface="Songti SC"/>
                <a:ea typeface="Songti SC"/>
                <a:cs typeface="Songti SC"/>
              </a:rPr>
              <a:t>v0.9 Max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2D8D55-7EC1-4456-A528-8A9E70C78C77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485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从 AI 产品构想到完整工程系统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E327E-E425-4A05-BF8A-8CFEF1C52F36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4476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自然语言驱动的 Excel 分析、报告与结构化产物平台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E3E5D-3652-4A17-87E2-A63A1A45D3BE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714500" cy="381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A5471-01A8-4967-9B3A-EB4FA7F08CB6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产品能力 × 工程质量 × 版本治理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18750" r="18750"/>
          <a:stretch>
            <a:fillRect/>
          </a:stretch>
        </p:blipFill>
        <p:spPr>
          <a:xfrm>
            <a:off x="5619750" y="590550"/>
            <a:ext cx="6096000" cy="54864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4D86E22-1CCF-49D6-8269-14E0A1F8C2DF}"/>
              </a:ext>
            </a:extLst>
          </p:cNvPr>
          <p:cNvSpPr>
            <a:spLocks noGrp="1"/>
          </p:cNvSpPr>
          <p:nvPr/>
        </p:nvSpPr>
        <p:spPr>
          <a:xfrm>
            <a:off x="5619750" y="590550"/>
            <a:ext cx="6096000" cy="5486400"/>
          </a:xfrm>
          <a:prstGeom prst="roundRect">
            <a:avLst>
              <a:gd name="adj" fmla="val 1389"/>
            </a:avLst>
          </a:prstGeom>
          <a:solidFill>
            <a:srgbClr val="000000">
              <a:alpha val="0"/>
            </a:srgbClr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7526BC-B304-4783-B550-FEC132871E34}"/>
              </a:ext>
            </a:extLst>
          </p:cNvPr>
          <p:cNvSpPr>
            <a:spLocks noGrp="1"/>
          </p:cNvSpPr>
          <p:nvPr/>
        </p:nvSpPr>
        <p:spPr>
          <a:xfrm>
            <a:off x="9144000" y="5600700"/>
            <a:ext cx="2190750" cy="266700"/>
          </a:xfrm>
          <a:prstGeom prst="roundRect">
            <a:avLst>
              <a:gd name="adj" fmla="val 28571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REAL PRODUCT · REAL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84D23B-ED2C-4CFA-9B5C-D3641965DB8C}"/>
              </a:ext>
            </a:extLst>
          </p:cNvPr>
          <p:cNvSpPr>
            <a:spLocks noGrp="1"/>
          </p:cNvSpPr>
          <p:nvPr/>
        </p:nvSpPr>
        <p:spPr>
          <a:xfrm>
            <a:off x="666750" y="61436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625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E6258"/>
                </a:solidFill>
                <a:latin typeface="Menlo"/>
                <a:ea typeface="Menlo"/>
                <a:cs typeface="Menlo"/>
              </a:rPr>
              <a:t>0.9.2 RELEASE CANDIDATE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10757-439C-4F62-E35D-A0BFAF8B6316}"/>
              </a:ext>
            </a:extLst>
          </p:cNvPr>
          <p:cNvSpPr>
            <a:spLocks noGrp="1"/>
          </p:cNvSpPr>
          <p:nvPr/>
        </p:nvSpPr>
        <p:spPr>
          <a:xfrm>
            <a:off x="652780" y="36766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125" b="1" dirty="0" err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数字化与人工智能中心</a:t>
            </a:r>
            <a:r>
              <a:rPr lang="zh-CN" altLang="en-US" sz="1125" b="1" dirty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 陈虹伊</a:t>
            </a:r>
            <a:endParaRPr sz="1125" b="1" dirty="0">
              <a:solidFill>
                <a:srgbClr val="211A16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40010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EAE6F48-85FD-4F33-9867-F0A3D13317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D3367B-C1C3-4FB2-8ED0-CF9EF283058E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01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产品价值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FDC32-2581-488B-BB11-6BADA7DD5B15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用户需要的不是一次回答，而是一条可复核的分析链路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ED92B6-8B29-4256-B7AC-5CD9F78CCBCA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从上传真实工作簿，到生成结果、产物与可恢复会话。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70ECF0-88B4-4537-BD74-C6333A44BA90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7417BB-89B1-42E8-BECD-EFEE8304A0FF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74F8AB-CDC5-4D2A-9B4B-E50BAF6D4D79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rcRect l="10756" r="10756"/>
          <a:stretch>
            <a:fillRect/>
          </a:stretch>
        </p:blipFill>
        <p:spPr>
          <a:xfrm>
            <a:off x="590550" y="1733550"/>
            <a:ext cx="5143500" cy="409575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49DD15B-B75B-42B1-BF8C-8452D3F0AACC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5143500" cy="4095750"/>
          </a:xfrm>
          <a:prstGeom prst="roundRect">
            <a:avLst>
              <a:gd name="adj" fmla="val 1860"/>
            </a:avLst>
          </a:prstGeom>
          <a:solidFill>
            <a:srgbClr val="000000">
              <a:alpha val="0"/>
            </a:srgbClr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D42D51-0E93-4A17-BC71-90CD90762814}"/>
              </a:ext>
            </a:extLst>
          </p:cNvPr>
          <p:cNvSpPr>
            <a:spLocks noGrp="1"/>
          </p:cNvSpPr>
          <p:nvPr/>
        </p:nvSpPr>
        <p:spPr>
          <a:xfrm>
            <a:off x="6191250" y="1914525"/>
            <a:ext cx="304800" cy="3048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4F67B1-A40B-44B2-A72E-BAAE0E902C22}"/>
              </a:ext>
            </a:extLst>
          </p:cNvPr>
          <p:cNvSpPr>
            <a:spLocks noGrp="1"/>
          </p:cNvSpPr>
          <p:nvPr/>
        </p:nvSpPr>
        <p:spPr>
          <a:xfrm>
            <a:off x="6667500" y="18288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上传与识别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1D93A-B34C-4589-AF73-2B663021B642}"/>
              </a:ext>
            </a:extLst>
          </p:cNvPr>
          <p:cNvSpPr>
            <a:spLocks noGrp="1"/>
          </p:cNvSpPr>
          <p:nvPr/>
        </p:nvSpPr>
        <p:spPr>
          <a:xfrm>
            <a:off x="6667500" y="21526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真实 Excel · 复杂表头与结构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6A3DF1-3554-4C70-859A-900F3C690CBC}"/>
              </a:ext>
            </a:extLst>
          </p:cNvPr>
          <p:cNvSpPr>
            <a:spLocks noGrp="1"/>
          </p:cNvSpPr>
          <p:nvPr/>
        </p:nvSpPr>
        <p:spPr>
          <a:xfrm>
            <a:off x="6191250" y="2609850"/>
            <a:ext cx="4810125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19E1A7-C52E-442A-A37A-B6B4378BF6C2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304800" cy="3048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9F39A3-A168-4B8C-A15A-A0CB9224678A}"/>
              </a:ext>
            </a:extLst>
          </p:cNvPr>
          <p:cNvSpPr>
            <a:spLocks noGrp="1"/>
          </p:cNvSpPr>
          <p:nvPr/>
        </p:nvSpPr>
        <p:spPr>
          <a:xfrm>
            <a:off x="6667500" y="277177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自然语言分析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6520C-0F35-4047-9C7D-233CAF5CD446}"/>
              </a:ext>
            </a:extLst>
          </p:cNvPr>
          <p:cNvSpPr>
            <a:spLocks noGrp="1"/>
          </p:cNvSpPr>
          <p:nvPr/>
        </p:nvSpPr>
        <p:spPr>
          <a:xfrm>
            <a:off x="6667500" y="3095625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实时计划、步骤与运行状态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D8EC6F-277A-4B5A-AF2D-99118C86D672}"/>
              </a:ext>
            </a:extLst>
          </p:cNvPr>
          <p:cNvSpPr>
            <a:spLocks noGrp="1"/>
          </p:cNvSpPr>
          <p:nvPr/>
        </p:nvSpPr>
        <p:spPr>
          <a:xfrm>
            <a:off x="6191250" y="3552825"/>
            <a:ext cx="4810125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0CDF0B-6FF9-44C1-AB63-D44AA7C6600A}"/>
              </a:ext>
            </a:extLst>
          </p:cNvPr>
          <p:cNvSpPr>
            <a:spLocks noGrp="1"/>
          </p:cNvSpPr>
          <p:nvPr/>
        </p:nvSpPr>
        <p:spPr>
          <a:xfrm>
            <a:off x="6191250" y="3800475"/>
            <a:ext cx="304800" cy="3048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8D2953-3B59-42F7-9F8E-2FEAC1FD0FC8}"/>
              </a:ext>
            </a:extLst>
          </p:cNvPr>
          <p:cNvSpPr>
            <a:spLocks noGrp="1"/>
          </p:cNvSpPr>
          <p:nvPr/>
        </p:nvSpPr>
        <p:spPr>
          <a:xfrm>
            <a:off x="6667500" y="3714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报告与产物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00EE5E-7B84-474B-B8DD-850BA220BF88}"/>
              </a:ext>
            </a:extLst>
          </p:cNvPr>
          <p:cNvSpPr>
            <a:spLocks noGrp="1"/>
          </p:cNvSpPr>
          <p:nvPr/>
        </p:nvSpPr>
        <p:spPr>
          <a:xfrm>
            <a:off x="6667500" y="40386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图表、CSV、Excel 可独立复核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DAB458-37B2-4DD3-9FCD-786566B7A873}"/>
              </a:ext>
            </a:extLst>
          </p:cNvPr>
          <p:cNvSpPr>
            <a:spLocks noGrp="1"/>
          </p:cNvSpPr>
          <p:nvPr/>
        </p:nvSpPr>
        <p:spPr>
          <a:xfrm>
            <a:off x="6191250" y="4495800"/>
            <a:ext cx="4810125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340972-D6C2-4578-908D-0739BAEC51B1}"/>
              </a:ext>
            </a:extLst>
          </p:cNvPr>
          <p:cNvSpPr>
            <a:spLocks noGrp="1"/>
          </p:cNvSpPr>
          <p:nvPr/>
        </p:nvSpPr>
        <p:spPr>
          <a:xfrm>
            <a:off x="6191250" y="4743450"/>
            <a:ext cx="304800" cy="30480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C62AD9-DFBA-4FD9-91B7-C8D85439E4A3}"/>
              </a:ext>
            </a:extLst>
          </p:cNvPr>
          <p:cNvSpPr>
            <a:spLocks noGrp="1"/>
          </p:cNvSpPr>
          <p:nvPr/>
        </p:nvSpPr>
        <p:spPr>
          <a:xfrm>
            <a:off x="6667500" y="465772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连续追问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27E212-5DA7-47A5-8C46-741D47CCEF85}"/>
              </a:ext>
            </a:extLst>
          </p:cNvPr>
          <p:cNvSpPr>
            <a:spLocks noGrp="1"/>
          </p:cNvSpPr>
          <p:nvPr/>
        </p:nvSpPr>
        <p:spPr>
          <a:xfrm>
            <a:off x="6667500" y="4981575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同一会话延续，刷新后可恢复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7DCEDB3-A17E-462D-AC0D-5E68EDB751E1}"/>
              </a:ext>
            </a:extLst>
          </p:cNvPr>
          <p:cNvSpPr>
            <a:spLocks noGrp="1"/>
          </p:cNvSpPr>
          <p:nvPr/>
        </p:nvSpPr>
        <p:spPr>
          <a:xfrm>
            <a:off x="6191250" y="5600700"/>
            <a:ext cx="4810125" cy="323850"/>
          </a:xfrm>
          <a:prstGeom prst="roundRect">
            <a:avLst>
              <a:gd name="adj" fmla="val 23529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10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复杂性由系统吸收，用户只需上传、提问、查看结果</a:t>
            </a:r>
          </a:p>
        </p:txBody>
      </p:sp>
    </p:spTree>
    <p:extLst>
      <p:ext uri="{BB962C8B-B14F-4D97-AF65-F5344CB8AC3E}">
        <p14:creationId xmlns:p14="http://schemas.microsoft.com/office/powerpoint/2010/main" val="275899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5FD091A-9FCF-41A8-9986-72F1B6A57E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66D47-B389-4A62-860B-43B50FD7D376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02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工程化系统建设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491E8C-206D-4D8C-96B1-2F5DD020644D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这个项目从一开始就按工程系统建设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22CE0-321F-48E0-96F3-2DB17437CC31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功能只是表层；目标是可维护、可验证、可追踪、可恢复、可持续迭代。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11974-5BB5-4713-AB83-FF13D429F215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B795B-0E25-4D39-8FDD-3D44B678C6FE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9D188-F7F1-4287-A430-9AB4A410349C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7E0985-72B6-4F98-8431-0E6ECD846FA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11010900" cy="781050"/>
          </a:xfrm>
          <a:prstGeom prst="roundRect">
            <a:avLst>
              <a:gd name="adj" fmla="val 9756"/>
            </a:avLst>
          </a:prstGeom>
          <a:solidFill>
            <a:srgbClr val="24211F"/>
          </a:solidFill>
          <a:ln w="9525">
            <a:solidFill>
              <a:srgbClr val="242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D1ABDC-6817-405B-8A18-0386831BADF5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476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不是“能跑一次”的 Vibe Coding Demo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3B041-A917-43A7-A5CA-D5BB8C288E89}"/>
              </a:ext>
            </a:extLst>
          </p:cNvPr>
          <p:cNvSpPr>
            <a:spLocks noGrp="1"/>
          </p:cNvSpPr>
          <p:nvPr/>
        </p:nvSpPr>
        <p:spPr>
          <a:xfrm>
            <a:off x="6667500" y="2009775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0">
                <a:solidFill>
                  <a:srgbClr val="E9DED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9DED2"/>
                </a:solidFill>
                <a:latin typeface="PingFang SC"/>
                <a:ea typeface="PingFang SC"/>
                <a:cs typeface="PingFang SC"/>
              </a:rPr>
              <a:t>而是把关键工程机制放进真实实现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7601F1-2878-453A-80A2-6E8EEEA05BE9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2000250" cy="27241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9CB356A-5E44-46E5-A2B5-DE0AC9E4437C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457200" cy="228600"/>
          </a:xfrm>
          <a:prstGeom prst="roundRect">
            <a:avLst>
              <a:gd name="adj" fmla="val 33333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A58732-341D-468A-B2A3-FD1B23E8EDC5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模块化架构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17320C-9FAA-40EF-874F-DFD6B16D0AF3}"/>
              </a:ext>
            </a:extLst>
          </p:cNvPr>
          <p:cNvSpPr>
            <a:spLocks noGrp="1"/>
          </p:cNvSpPr>
          <p:nvPr/>
        </p:nvSpPr>
        <p:spPr>
          <a:xfrm>
            <a:off x="762000" y="4133850"/>
            <a:ext cx="609600" cy="28575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79E89A-B0A6-4A08-81C0-470CE8619CD2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165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前端 / API / Agent / 数据职责分离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C251FF-E6B0-4DFA-A006-1FD62D39B121}"/>
              </a:ext>
            </a:extLst>
          </p:cNvPr>
          <p:cNvSpPr>
            <a:spLocks noGrp="1"/>
          </p:cNvSpPr>
          <p:nvPr/>
        </p:nvSpPr>
        <p:spPr>
          <a:xfrm>
            <a:off x="2790825" y="2876550"/>
            <a:ext cx="2000250" cy="27241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C5B709A-F7EC-4534-8FD3-3D9627FA7079}"/>
              </a:ext>
            </a:extLst>
          </p:cNvPr>
          <p:cNvSpPr>
            <a:spLocks noGrp="1"/>
          </p:cNvSpPr>
          <p:nvPr/>
        </p:nvSpPr>
        <p:spPr>
          <a:xfrm>
            <a:off x="2962275" y="3067050"/>
            <a:ext cx="457200" cy="228600"/>
          </a:xfrm>
          <a:prstGeom prst="roundRect">
            <a:avLst>
              <a:gd name="adj" fmla="val 33333"/>
            </a:avLst>
          </a:prstGeom>
          <a:solidFill>
            <a:srgbClr val="DFE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1847B5-77D8-4E15-97F3-23194CA161C8}"/>
              </a:ext>
            </a:extLst>
          </p:cNvPr>
          <p:cNvSpPr>
            <a:spLocks noGrp="1"/>
          </p:cNvSpPr>
          <p:nvPr/>
        </p:nvSpPr>
        <p:spPr>
          <a:xfrm>
            <a:off x="2962275" y="354330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生命周期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2119BA-E190-4B38-8A7E-4F35C6EBCCFC}"/>
              </a:ext>
            </a:extLst>
          </p:cNvPr>
          <p:cNvSpPr>
            <a:spLocks noGrp="1"/>
          </p:cNvSpPr>
          <p:nvPr/>
        </p:nvSpPr>
        <p:spPr>
          <a:xfrm>
            <a:off x="2962275" y="4133850"/>
            <a:ext cx="609600" cy="28575"/>
          </a:xfrm>
          <a:prstGeom prst="rect">
            <a:avLst/>
          </a:prstGeom>
          <a:solidFill>
            <a:srgbClr val="314E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029D3-7414-4069-9BEC-05A74019CD6E}"/>
              </a:ext>
            </a:extLst>
          </p:cNvPr>
          <p:cNvSpPr>
            <a:spLocks noGrp="1"/>
          </p:cNvSpPr>
          <p:nvPr/>
        </p:nvSpPr>
        <p:spPr>
          <a:xfrm>
            <a:off x="2962275" y="4362450"/>
            <a:ext cx="165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运行、取消、失败、恢复、删除有明确语义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26AA8E2-E1ED-4A40-AF42-C065AA2A7B81}"/>
              </a:ext>
            </a:extLst>
          </p:cNvPr>
          <p:cNvSpPr>
            <a:spLocks noGrp="1"/>
          </p:cNvSpPr>
          <p:nvPr/>
        </p:nvSpPr>
        <p:spPr>
          <a:xfrm>
            <a:off x="4991100" y="2876550"/>
            <a:ext cx="2000250" cy="27241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D2F61ED-A1D4-47C9-99F6-8754A5F06EEA}"/>
              </a:ext>
            </a:extLst>
          </p:cNvPr>
          <p:cNvSpPr>
            <a:spLocks noGrp="1"/>
          </p:cNvSpPr>
          <p:nvPr/>
        </p:nvSpPr>
        <p:spPr>
          <a:xfrm>
            <a:off x="5162550" y="3067050"/>
            <a:ext cx="457200" cy="228600"/>
          </a:xfrm>
          <a:prstGeom prst="roundRect">
            <a:avLst>
              <a:gd name="adj" fmla="val 33333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7B3867-0FC9-4E69-B9F4-4F7BDFE0C010}"/>
              </a:ext>
            </a:extLst>
          </p:cNvPr>
          <p:cNvSpPr>
            <a:spLocks noGrp="1"/>
          </p:cNvSpPr>
          <p:nvPr/>
        </p:nvSpPr>
        <p:spPr>
          <a:xfrm>
            <a:off x="5162550" y="354330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质量体系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3C5559-5250-4F7C-95CD-85A5925D564D}"/>
              </a:ext>
            </a:extLst>
          </p:cNvPr>
          <p:cNvSpPr>
            <a:spLocks noGrp="1"/>
          </p:cNvSpPr>
          <p:nvPr/>
        </p:nvSpPr>
        <p:spPr>
          <a:xfrm>
            <a:off x="5162550" y="4133850"/>
            <a:ext cx="609600" cy="28575"/>
          </a:xfrm>
          <a:prstGeom prst="rect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CC1E1C-3CC3-47A4-958C-0243AD54D078}"/>
              </a:ext>
            </a:extLst>
          </p:cNvPr>
          <p:cNvSpPr>
            <a:spLocks noGrp="1"/>
          </p:cNvSpPr>
          <p:nvPr/>
        </p:nvSpPr>
        <p:spPr>
          <a:xfrm>
            <a:off x="5162550" y="4362450"/>
            <a:ext cx="165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自动化测试、构建、预检、评测与 E2E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4BDE051-36DD-4B8A-B90D-16B83F558933}"/>
              </a:ext>
            </a:extLst>
          </p:cNvPr>
          <p:cNvSpPr>
            <a:spLocks noGrp="1"/>
          </p:cNvSpPr>
          <p:nvPr/>
        </p:nvSpPr>
        <p:spPr>
          <a:xfrm>
            <a:off x="7191375" y="2876550"/>
            <a:ext cx="2000250" cy="27241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E6E4167-7DA6-40F4-8EC0-75874463CA18}"/>
              </a:ext>
            </a:extLst>
          </p:cNvPr>
          <p:cNvSpPr>
            <a:spLocks noGrp="1"/>
          </p:cNvSpPr>
          <p:nvPr/>
        </p:nvSpPr>
        <p:spPr>
          <a:xfrm>
            <a:off x="7362825" y="3067050"/>
            <a:ext cx="457200" cy="228600"/>
          </a:xfrm>
          <a:prstGeom prst="roundRect">
            <a:avLst>
              <a:gd name="adj" fmla="val 33333"/>
            </a:avLst>
          </a:prstGeom>
          <a:solidFill>
            <a:srgbClr val="F1E7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940275-FDD6-442F-AF76-03726A3BFE86}"/>
              </a:ext>
            </a:extLst>
          </p:cNvPr>
          <p:cNvSpPr>
            <a:spLocks noGrp="1"/>
          </p:cNvSpPr>
          <p:nvPr/>
        </p:nvSpPr>
        <p:spPr>
          <a:xfrm>
            <a:off x="7362825" y="354330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版本治理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C453DA-C801-426E-B087-A18AE6BBFA83}"/>
              </a:ext>
            </a:extLst>
          </p:cNvPr>
          <p:cNvSpPr>
            <a:spLocks noGrp="1"/>
          </p:cNvSpPr>
          <p:nvPr/>
        </p:nvSpPr>
        <p:spPr>
          <a:xfrm>
            <a:off x="7362825" y="4133850"/>
            <a:ext cx="609600" cy="28575"/>
          </a:xfrm>
          <a:prstGeom prst="rect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8FD375-63D5-4EC3-A1F5-6E99831102C9}"/>
              </a:ext>
            </a:extLst>
          </p:cNvPr>
          <p:cNvSpPr>
            <a:spLocks noGrp="1"/>
          </p:cNvSpPr>
          <p:nvPr/>
        </p:nvSpPr>
        <p:spPr>
          <a:xfrm>
            <a:off x="7362825" y="4362450"/>
            <a:ext cx="165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branch、commit、PR、tag、release 可追溯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F73BE4D-0041-48EA-8D10-293484AE3044}"/>
              </a:ext>
            </a:extLst>
          </p:cNvPr>
          <p:cNvSpPr>
            <a:spLocks noGrp="1"/>
          </p:cNvSpPr>
          <p:nvPr/>
        </p:nvSpPr>
        <p:spPr>
          <a:xfrm>
            <a:off x="9391650" y="2876550"/>
            <a:ext cx="2000250" cy="27241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6A7A10B-C41E-4712-BD82-DCB230BCEA78}"/>
              </a:ext>
            </a:extLst>
          </p:cNvPr>
          <p:cNvSpPr>
            <a:spLocks noGrp="1"/>
          </p:cNvSpPr>
          <p:nvPr/>
        </p:nvSpPr>
        <p:spPr>
          <a:xfrm>
            <a:off x="9563100" y="3067050"/>
            <a:ext cx="457200" cy="228600"/>
          </a:xfrm>
          <a:prstGeom prst="roundRect">
            <a:avLst>
              <a:gd name="adj" fmla="val 33333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503F52-C71D-446A-9D8A-EAA9330C946E}"/>
              </a:ext>
            </a:extLst>
          </p:cNvPr>
          <p:cNvSpPr>
            <a:spLocks noGrp="1"/>
          </p:cNvSpPr>
          <p:nvPr/>
        </p:nvSpPr>
        <p:spPr>
          <a:xfrm>
            <a:off x="9563100" y="354330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B89710-52B2-4D32-B8C6-A25941034B72}"/>
              </a:ext>
            </a:extLst>
          </p:cNvPr>
          <p:cNvSpPr>
            <a:spLocks noGrp="1"/>
          </p:cNvSpPr>
          <p:nvPr/>
        </p:nvSpPr>
        <p:spPr>
          <a:xfrm>
            <a:off x="9563100" y="4133850"/>
            <a:ext cx="609600" cy="28575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79A4E-9461-44A1-9E35-E227697E5946}"/>
              </a:ext>
            </a:extLst>
          </p:cNvPr>
          <p:cNvSpPr>
            <a:spLocks noGrp="1"/>
          </p:cNvSpPr>
          <p:nvPr/>
        </p:nvSpPr>
        <p:spPr>
          <a:xfrm>
            <a:off x="9563100" y="4362450"/>
            <a:ext cx="165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上传校验、路径 containment、并发与 Git 防线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E6F514-243B-46AA-B1CA-B5C67C6E28BC}"/>
              </a:ext>
            </a:extLst>
          </p:cNvPr>
          <p:cNvSpPr>
            <a:spLocks noGrp="1"/>
          </p:cNvSpPr>
          <p:nvPr/>
        </p:nvSpPr>
        <p:spPr>
          <a:xfrm>
            <a:off x="590550" y="5867400"/>
            <a:ext cx="11010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当前版本不假装覆盖所有企业场景，但关键工程机制已经进入真实实现。</a:t>
            </a:r>
          </a:p>
        </p:txBody>
      </p:sp>
    </p:spTree>
    <p:extLst>
      <p:ext uri="{BB962C8B-B14F-4D97-AF65-F5344CB8AC3E}">
        <p14:creationId xmlns:p14="http://schemas.microsoft.com/office/powerpoint/2010/main" val="121903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BC7895-EAA2-4AAB-8135-8BCDF5F456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2996E2-3A68-4071-A905-A1723AA210D3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03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技术路线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429765-2D54-4006-9F34-B048C93D6328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React + FastAPI：前后端分离让系统可扩展、可观察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060C6-ADF2-4519-A911-51D503CECA6C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长任务不阻塞交互层；REST + WebSocket 把状态、数据和执行边界显式化。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1A624-C59C-498C-BAF6-EF06C62D7049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C4EFA0-1D7A-4C1C-92D5-EEBB8149672D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81174-BEA8-428C-917A-F765BAF5CBF9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A2F66E-DAEF-4AE5-B476-127BCDA939D2}"/>
              </a:ext>
            </a:extLst>
          </p:cNvPr>
          <p:cNvSpPr>
            <a:spLocks noGrp="1"/>
          </p:cNvSpPr>
          <p:nvPr/>
        </p:nvSpPr>
        <p:spPr>
          <a:xfrm>
            <a:off x="5581650" y="3181350"/>
            <a:ext cx="1028700" cy="381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F79E83-BD55-49B2-AEAA-C14B9E4B0A2E}"/>
              </a:ext>
            </a:extLst>
          </p:cNvPr>
          <p:cNvSpPr>
            <a:spLocks noGrp="1"/>
          </p:cNvSpPr>
          <p:nvPr/>
        </p:nvSpPr>
        <p:spPr>
          <a:xfrm>
            <a:off x="5162550" y="278130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REST + WebSocket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AC9625-FDD7-4A93-ABDD-DD5168D18156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4857750" cy="3733800"/>
          </a:xfrm>
          <a:prstGeom prst="roundRect">
            <a:avLst>
              <a:gd name="adj" fmla="val 2041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3779D0-B526-41B9-B4F0-EBBAE100908D}"/>
              </a:ext>
            </a:extLst>
          </p:cNvPr>
          <p:cNvSpPr>
            <a:spLocks noGrp="1"/>
          </p:cNvSpPr>
          <p:nvPr/>
        </p:nvSpPr>
        <p:spPr>
          <a:xfrm>
            <a:off x="6743700" y="1790700"/>
            <a:ext cx="4857750" cy="3733800"/>
          </a:xfrm>
          <a:prstGeom prst="roundRect">
            <a:avLst>
              <a:gd name="adj" fmla="val 2041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32E9F67-0A8D-4A9A-ADC4-2A9F2E05025B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333500" cy="266700"/>
          </a:xfrm>
          <a:prstGeom prst="roundRect">
            <a:avLst>
              <a:gd name="adj" fmla="val 28571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WEB FRONTEND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699248-89F3-404C-848A-578E877EBD48}"/>
              </a:ext>
            </a:extLst>
          </p:cNvPr>
          <p:cNvSpPr>
            <a:spLocks noGrp="1"/>
          </p:cNvSpPr>
          <p:nvPr/>
        </p:nvSpPr>
        <p:spPr>
          <a:xfrm>
            <a:off x="6991350" y="2038350"/>
            <a:ext cx="1524000" cy="266700"/>
          </a:xfrm>
          <a:prstGeom prst="roundRect">
            <a:avLst>
              <a:gd name="adj" fmla="val 28571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SERVICE + AGENT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8FA13C-D47E-455E-BA9F-BF5D3BB07422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React 18 + TypeScript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24F0E9-2D94-4056-90B6-54D6683609D6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Vite · TanStack Query · Zustand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C20B322-66B7-4ECB-8A1B-66287387A312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200150" cy="209550"/>
          </a:xfrm>
          <a:prstGeom prst="roundRect">
            <a:avLst>
              <a:gd name="adj" fmla="val 36364"/>
            </a:avLst>
          </a:prstGeom>
          <a:solidFill>
            <a:srgbClr val="DFE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UI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D72171-4C9C-478E-880B-8E7DA69D59A1}"/>
              </a:ext>
            </a:extLst>
          </p:cNvPr>
          <p:cNvSpPr>
            <a:spLocks noGrp="1"/>
          </p:cNvSpPr>
          <p:nvPr/>
        </p:nvSpPr>
        <p:spPr>
          <a:xfrm>
            <a:off x="2209800" y="3467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上传、会话、产物、进度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835599-8082-414C-AA42-C7AC83D05EE0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1200150" cy="209550"/>
          </a:xfrm>
          <a:prstGeom prst="roundRect">
            <a:avLst>
              <a:gd name="adj" fmla="val 36364"/>
            </a:avLst>
          </a:prstGeom>
          <a:solidFill>
            <a:srgbClr val="DFE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QUERY STATE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417E56-8688-4EE3-9032-F880735168ED}"/>
              </a:ext>
            </a:extLst>
          </p:cNvPr>
          <p:cNvSpPr>
            <a:spLocks noGrp="1"/>
          </p:cNvSpPr>
          <p:nvPr/>
        </p:nvSpPr>
        <p:spPr>
          <a:xfrm>
            <a:off x="2209800" y="405765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API 缓存、重试与失效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9DE20E-4BBA-4277-A31C-FAD910749AE0}"/>
              </a:ext>
            </a:extLst>
          </p:cNvPr>
          <p:cNvSpPr>
            <a:spLocks noGrp="1"/>
          </p:cNvSpPr>
          <p:nvPr/>
        </p:nvSpPr>
        <p:spPr>
          <a:xfrm>
            <a:off x="838200" y="4667250"/>
            <a:ext cx="1200150" cy="209550"/>
          </a:xfrm>
          <a:prstGeom prst="roundRect">
            <a:avLst>
              <a:gd name="adj" fmla="val 36364"/>
            </a:avLst>
          </a:prstGeom>
          <a:solidFill>
            <a:srgbClr val="DFE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PRODUCTION BUILD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F324E-053F-46DE-ACB5-6211D228830D}"/>
              </a:ext>
            </a:extLst>
          </p:cNvPr>
          <p:cNvSpPr>
            <a:spLocks noGrp="1"/>
          </p:cNvSpPr>
          <p:nvPr/>
        </p:nvSpPr>
        <p:spPr>
          <a:xfrm>
            <a:off x="2209800" y="46482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由 FastAPI 单端口提供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044549-884B-4C6B-9720-867C57B2BF53}"/>
              </a:ext>
            </a:extLst>
          </p:cNvPr>
          <p:cNvSpPr>
            <a:spLocks noGrp="1"/>
          </p:cNvSpPr>
          <p:nvPr/>
        </p:nvSpPr>
        <p:spPr>
          <a:xfrm>
            <a:off x="6991350" y="25146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FastAPI + Pydantic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C9EB-5C3D-4A10-95DE-84DE8F607B5F}"/>
              </a:ext>
            </a:extLst>
          </p:cNvPr>
          <p:cNvSpPr>
            <a:spLocks noGrp="1"/>
          </p:cNvSpPr>
          <p:nvPr/>
        </p:nvSpPr>
        <p:spPr>
          <a:xfrm>
            <a:off x="6991350" y="29527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SQLite · pandas/openpyxl · Pi runtime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BAF4892-E9B6-4E51-BBCA-5861D75D7CE2}"/>
              </a:ext>
            </a:extLst>
          </p:cNvPr>
          <p:cNvSpPr>
            <a:spLocks noGrp="1"/>
          </p:cNvSpPr>
          <p:nvPr/>
        </p:nvSpPr>
        <p:spPr>
          <a:xfrm>
            <a:off x="6991350" y="3486150"/>
            <a:ext cx="1200150" cy="209550"/>
          </a:xfrm>
          <a:prstGeom prst="roundRect">
            <a:avLst>
              <a:gd name="adj" fmla="val 36364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7DAEEE-12D4-4551-8C84-C6CD89EED952}"/>
              </a:ext>
            </a:extLst>
          </p:cNvPr>
          <p:cNvSpPr>
            <a:spLocks noGrp="1"/>
          </p:cNvSpPr>
          <p:nvPr/>
        </p:nvSpPr>
        <p:spPr>
          <a:xfrm>
            <a:off x="8362950" y="3467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conversation / run / artifact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A4F3C7A-5EE1-4ADB-A756-2660F9887901}"/>
              </a:ext>
            </a:extLst>
          </p:cNvPr>
          <p:cNvSpPr>
            <a:spLocks noGrp="1"/>
          </p:cNvSpPr>
          <p:nvPr/>
        </p:nvSpPr>
        <p:spPr>
          <a:xfrm>
            <a:off x="6991350" y="4076700"/>
            <a:ext cx="1200150" cy="209550"/>
          </a:xfrm>
          <a:prstGeom prst="roundRect">
            <a:avLst>
              <a:gd name="adj" fmla="val 36364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DBEE4C-37A4-4B9B-902A-21807634DB24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规划、工具执行、结果校验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54BDDF0-50FD-46EE-B3CC-44B50FEADF28}"/>
              </a:ext>
            </a:extLst>
          </p:cNvPr>
          <p:cNvSpPr>
            <a:spLocks noGrp="1"/>
          </p:cNvSpPr>
          <p:nvPr/>
        </p:nvSpPr>
        <p:spPr>
          <a:xfrm>
            <a:off x="6991350" y="4667250"/>
            <a:ext cx="1200150" cy="209550"/>
          </a:xfrm>
          <a:prstGeom prst="roundRect">
            <a:avLst>
              <a:gd name="adj" fmla="val 36364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AD46EC-455E-4D71-A971-5F6B16FDFB18}"/>
              </a:ext>
            </a:extLst>
          </p:cNvPr>
          <p:cNvSpPr>
            <a:spLocks noGrp="1"/>
          </p:cNvSpPr>
          <p:nvPr/>
        </p:nvSpPr>
        <p:spPr>
          <a:xfrm>
            <a:off x="8362950" y="46482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workspace 隔离与会话持久化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D057DB-5BA8-46C9-8D12-1BB3F4C4CDB8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11010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前端、服务端和 Agent runtime 可以独立测试与演进。</a:t>
            </a:r>
          </a:p>
        </p:txBody>
      </p:sp>
    </p:spTree>
    <p:extLst>
      <p:ext uri="{BB962C8B-B14F-4D97-AF65-F5344CB8AC3E}">
        <p14:creationId xmlns:p14="http://schemas.microsoft.com/office/powerpoint/2010/main" val="163603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03AD399-8DA9-4026-849A-F9D1E415BF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2EFCC7-CAC4-4A54-9D66-F5CB93EBD83B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04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端到端架构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9A81AE-BF12-466B-93E5-E3F1FC10CEDA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每一次用户提问，都经过可观察、可约束的执行链路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3A31E0-686B-4541-82F2-AF795C64FEB3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状态事件、工作区与历史存储是三个关键工程边界。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9E457-6350-4170-861D-036B365E57FD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3CDA5A-BC9D-4939-9AE4-F63025E40CF4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A1AEE2-45F2-41F5-8DAD-42456D3A3C10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3FBC55-C8F7-4E40-BEAA-772B9E05AF61}"/>
              </a:ext>
            </a:extLst>
          </p:cNvPr>
          <p:cNvSpPr>
            <a:spLocks noGrp="1"/>
          </p:cNvSpPr>
          <p:nvPr/>
        </p:nvSpPr>
        <p:spPr>
          <a:xfrm>
            <a:off x="990600" y="3038475"/>
            <a:ext cx="9715500" cy="5715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BA5BAE-6101-4B8E-AB67-751950A8F3A3}"/>
              </a:ext>
            </a:extLst>
          </p:cNvPr>
          <p:cNvSpPr>
            <a:spLocks noGrp="1"/>
          </p:cNvSpPr>
          <p:nvPr/>
        </p:nvSpPr>
        <p:spPr>
          <a:xfrm>
            <a:off x="590550" y="2428875"/>
            <a:ext cx="1352550" cy="1390650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866746-CC32-44C8-9D4C-D3E2DD037A43}"/>
              </a:ext>
            </a:extLst>
          </p:cNvPr>
          <p:cNvSpPr>
            <a:spLocks noGrp="1"/>
          </p:cNvSpPr>
          <p:nvPr/>
        </p:nvSpPr>
        <p:spPr>
          <a:xfrm>
            <a:off x="1104900" y="2247900"/>
            <a:ext cx="323850" cy="3238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BD7F33-9CA8-4E8D-845E-3ABC1DDDE2B6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上传校验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7FC7D0-BA9E-4D50-A7FC-80313C103A12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xlsx / xlsm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428610E-9DBA-438D-BCA6-B771AE070017}"/>
              </a:ext>
            </a:extLst>
          </p:cNvPr>
          <p:cNvSpPr>
            <a:spLocks noGrp="1"/>
          </p:cNvSpPr>
          <p:nvPr/>
        </p:nvSpPr>
        <p:spPr>
          <a:xfrm>
            <a:off x="2162175" y="2428875"/>
            <a:ext cx="1352550" cy="1390650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4B2362-FA23-475A-8726-B6D3659AABB0}"/>
              </a:ext>
            </a:extLst>
          </p:cNvPr>
          <p:cNvSpPr>
            <a:spLocks noGrp="1"/>
          </p:cNvSpPr>
          <p:nvPr/>
        </p:nvSpPr>
        <p:spPr>
          <a:xfrm>
            <a:off x="2676525" y="2247900"/>
            <a:ext cx="323850" cy="323850"/>
          </a:xfrm>
          <a:prstGeom prst="ellipse">
            <a:avLst/>
          </a:prstGeom>
          <a:solidFill>
            <a:srgbClr val="314E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575E48-01C5-437F-BAE1-40A53F5D3404}"/>
              </a:ext>
            </a:extLst>
          </p:cNvPr>
          <p:cNvSpPr>
            <a:spLocks noGrp="1"/>
          </p:cNvSpPr>
          <p:nvPr/>
        </p:nvSpPr>
        <p:spPr>
          <a:xfrm>
            <a:off x="2257425" y="27813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工作簿解析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3DC3A-2AB8-473D-9D95-60A2260569B2}"/>
              </a:ext>
            </a:extLst>
          </p:cNvPr>
          <p:cNvSpPr>
            <a:spLocks noGrp="1"/>
          </p:cNvSpPr>
          <p:nvPr/>
        </p:nvSpPr>
        <p:spPr>
          <a:xfrm>
            <a:off x="2257425" y="32670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结构与元数据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41DE495-0237-4285-8844-43AEE1F071B2}"/>
              </a:ext>
            </a:extLst>
          </p:cNvPr>
          <p:cNvSpPr>
            <a:spLocks noGrp="1"/>
          </p:cNvSpPr>
          <p:nvPr/>
        </p:nvSpPr>
        <p:spPr>
          <a:xfrm>
            <a:off x="3733800" y="2428875"/>
            <a:ext cx="1352550" cy="1390650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BC9BF7-6D06-4DB9-BA10-3D3BB830D560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323850" cy="323850"/>
          </a:xfrm>
          <a:prstGeom prst="ellipse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0C3DE1-5DD8-46E9-9221-E24EE34576F8}"/>
              </a:ext>
            </a:extLst>
          </p:cNvPr>
          <p:cNvSpPr>
            <a:spLocks noGrp="1"/>
          </p:cNvSpPr>
          <p:nvPr/>
        </p:nvSpPr>
        <p:spPr>
          <a:xfrm>
            <a:off x="3829050" y="27813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Agent 规划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D5E2F3-5B55-4100-8069-17EEDF9F66C6}"/>
              </a:ext>
            </a:extLst>
          </p:cNvPr>
          <p:cNvSpPr>
            <a:spLocks noGrp="1"/>
          </p:cNvSpPr>
          <p:nvPr/>
        </p:nvSpPr>
        <p:spPr>
          <a:xfrm>
            <a:off x="3829050" y="32670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可执行步骤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7CFEB56-975B-4B9F-9FEA-65D10AF5C115}"/>
              </a:ext>
            </a:extLst>
          </p:cNvPr>
          <p:cNvSpPr>
            <a:spLocks noGrp="1"/>
          </p:cNvSpPr>
          <p:nvPr/>
        </p:nvSpPr>
        <p:spPr>
          <a:xfrm>
            <a:off x="5305425" y="2428875"/>
            <a:ext cx="1352550" cy="1390650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F1A9A0-498D-4173-B65C-8ABE0A9B3934}"/>
              </a:ext>
            </a:extLst>
          </p:cNvPr>
          <p:cNvSpPr>
            <a:spLocks noGrp="1"/>
          </p:cNvSpPr>
          <p:nvPr/>
        </p:nvSpPr>
        <p:spPr>
          <a:xfrm>
            <a:off x="5819775" y="2247900"/>
            <a:ext cx="323850" cy="32385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F3EE3-64D0-4BD1-8651-1A47D87136ED}"/>
              </a:ext>
            </a:extLst>
          </p:cNvPr>
          <p:cNvSpPr>
            <a:spLocks noGrp="1"/>
          </p:cNvSpPr>
          <p:nvPr/>
        </p:nvSpPr>
        <p:spPr>
          <a:xfrm>
            <a:off x="5400675" y="27813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工具执行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21E149-5750-4308-9F51-8AB1BF1B9906}"/>
              </a:ext>
            </a:extLst>
          </p:cNvPr>
          <p:cNvSpPr>
            <a:spLocks noGrp="1"/>
          </p:cNvSpPr>
          <p:nvPr/>
        </p:nvSpPr>
        <p:spPr>
          <a:xfrm>
            <a:off x="5400675" y="32670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Python / Sheet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8D1D9D0-0D4F-47A6-B7DA-8F7CFD781A5C}"/>
              </a:ext>
            </a:extLst>
          </p:cNvPr>
          <p:cNvSpPr>
            <a:spLocks noGrp="1"/>
          </p:cNvSpPr>
          <p:nvPr/>
        </p:nvSpPr>
        <p:spPr>
          <a:xfrm>
            <a:off x="6877050" y="2428875"/>
            <a:ext cx="1352550" cy="1390650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84D2DD-4B79-431A-A443-E6AD027A8821}"/>
              </a:ext>
            </a:extLst>
          </p:cNvPr>
          <p:cNvSpPr>
            <a:spLocks noGrp="1"/>
          </p:cNvSpPr>
          <p:nvPr/>
        </p:nvSpPr>
        <p:spPr>
          <a:xfrm>
            <a:off x="7391400" y="2247900"/>
            <a:ext cx="323850" cy="3238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256D85-7A40-4967-A455-FA9283F98DA7}"/>
              </a:ext>
            </a:extLst>
          </p:cNvPr>
          <p:cNvSpPr>
            <a:spLocks noGrp="1"/>
          </p:cNvSpPr>
          <p:nvPr/>
        </p:nvSpPr>
        <p:spPr>
          <a:xfrm>
            <a:off x="6972300" y="27813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结果校验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E29A2C-2351-4E9A-9A3D-B64B97AB8C67}"/>
              </a:ext>
            </a:extLst>
          </p:cNvPr>
          <p:cNvSpPr>
            <a:spLocks noGrp="1"/>
          </p:cNvSpPr>
          <p:nvPr/>
        </p:nvSpPr>
        <p:spPr>
          <a:xfrm>
            <a:off x="6972300" y="32670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数字与产物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6FA6C3B-448B-4AE1-ADE2-78765A275F6B}"/>
              </a:ext>
            </a:extLst>
          </p:cNvPr>
          <p:cNvSpPr>
            <a:spLocks noGrp="1"/>
          </p:cNvSpPr>
          <p:nvPr/>
        </p:nvSpPr>
        <p:spPr>
          <a:xfrm>
            <a:off x="8448675" y="2428875"/>
            <a:ext cx="1352550" cy="1390650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FFCA1-D425-4433-93D1-B79D2E076A91}"/>
              </a:ext>
            </a:extLst>
          </p:cNvPr>
          <p:cNvSpPr>
            <a:spLocks noGrp="1"/>
          </p:cNvSpPr>
          <p:nvPr/>
        </p:nvSpPr>
        <p:spPr>
          <a:xfrm>
            <a:off x="8963025" y="2247900"/>
            <a:ext cx="323850" cy="323850"/>
          </a:xfrm>
          <a:prstGeom prst="ellipse">
            <a:avLst/>
          </a:prstGeom>
          <a:solidFill>
            <a:srgbClr val="314E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B610C8-FBC3-46F0-B306-6811B857AD30}"/>
              </a:ext>
            </a:extLst>
          </p:cNvPr>
          <p:cNvSpPr>
            <a:spLocks noGrp="1"/>
          </p:cNvSpPr>
          <p:nvPr/>
        </p:nvSpPr>
        <p:spPr>
          <a:xfrm>
            <a:off x="8543925" y="27813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报告输出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F6ADE-AC08-43C8-9C55-C2D9863C8539}"/>
              </a:ext>
            </a:extLst>
          </p:cNvPr>
          <p:cNvSpPr>
            <a:spLocks noGrp="1"/>
          </p:cNvSpPr>
          <p:nvPr/>
        </p:nvSpPr>
        <p:spPr>
          <a:xfrm>
            <a:off x="8543925" y="32670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图 / CSV / Excel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BCA34E2-70DB-4202-8285-358719166E0A}"/>
              </a:ext>
            </a:extLst>
          </p:cNvPr>
          <p:cNvSpPr>
            <a:spLocks noGrp="1"/>
          </p:cNvSpPr>
          <p:nvPr/>
        </p:nvSpPr>
        <p:spPr>
          <a:xfrm>
            <a:off x="10020300" y="2428875"/>
            <a:ext cx="1352550" cy="1390650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3B18D20-30DB-46DB-9500-4603B7C935F6}"/>
              </a:ext>
            </a:extLst>
          </p:cNvPr>
          <p:cNvSpPr>
            <a:spLocks noGrp="1"/>
          </p:cNvSpPr>
          <p:nvPr/>
        </p:nvSpPr>
        <p:spPr>
          <a:xfrm>
            <a:off x="10534650" y="2247900"/>
            <a:ext cx="323850" cy="32385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5A66EC-BA35-4A7F-B079-CFD3820AD9BE}"/>
              </a:ext>
            </a:extLst>
          </p:cNvPr>
          <p:cNvSpPr>
            <a:spLocks noGrp="1"/>
          </p:cNvSpPr>
          <p:nvPr/>
        </p:nvSpPr>
        <p:spPr>
          <a:xfrm>
            <a:off x="10115550" y="27813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历史恢复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EC9FC3-B6A9-4901-A462-22FCD0BE5FF1}"/>
              </a:ext>
            </a:extLst>
          </p:cNvPr>
          <p:cNvSpPr>
            <a:spLocks noGrp="1"/>
          </p:cNvSpPr>
          <p:nvPr/>
        </p:nvSpPr>
        <p:spPr>
          <a:xfrm>
            <a:off x="10115550" y="32670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SQLite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CDD2123-77D8-4051-B1F1-BA1E17E31E3C}"/>
              </a:ext>
            </a:extLst>
          </p:cNvPr>
          <p:cNvSpPr>
            <a:spLocks noGrp="1"/>
          </p:cNvSpPr>
          <p:nvPr/>
        </p:nvSpPr>
        <p:spPr>
          <a:xfrm>
            <a:off x="590550" y="436245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1DED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1719FB-C71D-4ADD-AF12-2403862C1534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30289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WebSocket 事件边界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3BA85F-96E0-4074-B1FE-31911B50A9CE}"/>
              </a:ext>
            </a:extLst>
          </p:cNvPr>
          <p:cNvSpPr>
            <a:spLocks noGrp="1"/>
          </p:cNvSpPr>
          <p:nvPr/>
        </p:nvSpPr>
        <p:spPr>
          <a:xfrm>
            <a:off x="762000" y="4943475"/>
            <a:ext cx="3028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计划 / 步骤 / reasoning / artifact / 终态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4764381-F711-4CCC-9775-931181111F4F}"/>
              </a:ext>
            </a:extLst>
          </p:cNvPr>
          <p:cNvSpPr>
            <a:spLocks noGrp="1"/>
          </p:cNvSpPr>
          <p:nvPr/>
        </p:nvSpPr>
        <p:spPr>
          <a:xfrm>
            <a:off x="4238625" y="436245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F1E7C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2BE3BC-C24E-4551-8657-67ACA60A2B84}"/>
              </a:ext>
            </a:extLst>
          </p:cNvPr>
          <p:cNvSpPr>
            <a:spLocks noGrp="1"/>
          </p:cNvSpPr>
          <p:nvPr/>
        </p:nvSpPr>
        <p:spPr>
          <a:xfrm>
            <a:off x="4410075" y="4552950"/>
            <a:ext cx="30289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Workspace 安全边界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6863E12-4B03-40E4-93B1-E58244EBDC60}"/>
              </a:ext>
            </a:extLst>
          </p:cNvPr>
          <p:cNvSpPr>
            <a:spLocks noGrp="1"/>
          </p:cNvSpPr>
          <p:nvPr/>
        </p:nvSpPr>
        <p:spPr>
          <a:xfrm>
            <a:off x="4410075" y="4943475"/>
            <a:ext cx="3028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只允许会话目录；GIT_DIR=/dev/null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6F19292-1467-4DB1-98F7-2D324B051B1E}"/>
              </a:ext>
            </a:extLst>
          </p:cNvPr>
          <p:cNvSpPr>
            <a:spLocks noGrp="1"/>
          </p:cNvSpPr>
          <p:nvPr/>
        </p:nvSpPr>
        <p:spPr>
          <a:xfrm>
            <a:off x="7886700" y="4362450"/>
            <a:ext cx="3371850" cy="1104900"/>
          </a:xfrm>
          <a:prstGeom prst="roundRect">
            <a:avLst>
              <a:gd name="adj" fmla="val 6897"/>
            </a:avLst>
          </a:prstGeom>
          <a:solidFill>
            <a:srgbClr val="DDEAE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AB72ED-989E-43BA-91F2-0F3041A40766}"/>
              </a:ext>
            </a:extLst>
          </p:cNvPr>
          <p:cNvSpPr>
            <a:spLocks noGrp="1"/>
          </p:cNvSpPr>
          <p:nvPr/>
        </p:nvSpPr>
        <p:spPr>
          <a:xfrm>
            <a:off x="8058150" y="4552950"/>
            <a:ext cx="30289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SQLite 恢复边界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952E21-F066-4EF5-B848-3D8F49905AE6}"/>
              </a:ext>
            </a:extLst>
          </p:cNvPr>
          <p:cNvSpPr>
            <a:spLocks noGrp="1"/>
          </p:cNvSpPr>
          <p:nvPr/>
        </p:nvSpPr>
        <p:spPr>
          <a:xfrm>
            <a:off x="8058150" y="4943475"/>
            <a:ext cx="3028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消息与运行终态可重新加载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4B532F-1603-4E7A-B000-3189E7D6CB76}"/>
              </a:ext>
            </a:extLst>
          </p:cNvPr>
          <p:cNvSpPr>
            <a:spLocks noGrp="1"/>
          </p:cNvSpPr>
          <p:nvPr/>
        </p:nvSpPr>
        <p:spPr>
          <a:xfrm>
            <a:off x="590550" y="5829300"/>
            <a:ext cx="11010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FastAPI 管理 conversation、run、artifact 与删除生命周期；Agent 不直接拥有产品状态。</a:t>
            </a:r>
          </a:p>
        </p:txBody>
      </p:sp>
    </p:spTree>
    <p:extLst>
      <p:ext uri="{BB962C8B-B14F-4D97-AF65-F5344CB8AC3E}">
        <p14:creationId xmlns:p14="http://schemas.microsoft.com/office/powerpoint/2010/main" val="1064798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460D1E9-2A72-42AD-965D-15772E7B78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54F96-F45D-4B50-8C46-8FD9DC6E030B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05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版本管理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392E7-AE0B-4E5C-9CA4-8E357E82CFBE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 dirty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Git</a:t>
            </a:r>
            <a:r>
              <a:rPr lang="zh-CN" altLang="en-US" sz="2625" b="1" dirty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625" b="1" dirty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/GitHub </a:t>
            </a:r>
            <a:r>
              <a:rPr sz="2625" b="1" dirty="0" err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把开发过程变成了可审查的工程记录</a:t>
            </a:r>
            <a:endParaRPr sz="2625" b="1" dirty="0">
              <a:solidFill>
                <a:srgbClr val="211A1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3ADD33-6B46-4C72-A466-0766B9844A3B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每一类变更都能被隔离、验证、合并与回溯。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CEAE1C-1BD7-4738-8B88-F49A302811AC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D9405E-5C81-42A6-96B6-6C3D810F2ABA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337F76-EDB1-4699-A147-A75544832F5C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3BC247-7552-4B5B-B683-18C63E9C51C7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5467350" cy="3981450"/>
          </a:xfrm>
          <a:prstGeom prst="roundRect">
            <a:avLst>
              <a:gd name="adj" fmla="val 1914"/>
            </a:avLst>
          </a:prstGeom>
          <a:solidFill>
            <a:srgbClr val="24211F"/>
          </a:solidFill>
          <a:ln w="9525">
            <a:solidFill>
              <a:srgbClr val="242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12ABD-B369-4B88-A0EF-2C9D88993CEA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CA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C9BCAF"/>
                </a:solidFill>
                <a:latin typeface="Menlo"/>
                <a:ea typeface="Menlo"/>
                <a:cs typeface="Menlo"/>
              </a:rPr>
              <a:t>$ git log --graph --oneline --decorate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DD9B8A-B00A-401A-895E-4E9634B849FC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1D0C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D0C3"/>
                </a:solidFill>
                <a:latin typeface="Menlo"/>
                <a:ea typeface="Menlo"/>
                <a:cs typeface="Menlo"/>
              </a:rPr>
              <a:t>* fdc3740  demo: prepare v0.9 Max package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0B0C4-BC05-4332-9189-A3191FDED3F4}"/>
              </a:ext>
            </a:extLst>
          </p:cNvPr>
          <p:cNvSpPr>
            <a:spLocks noGrp="1"/>
          </p:cNvSpPr>
          <p:nvPr/>
        </p:nvSpPr>
        <p:spPr>
          <a:xfrm>
            <a:off x="800100" y="265747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1D0C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D0C3"/>
                </a:solidFill>
                <a:latin typeface="Menlo"/>
                <a:ea typeface="Menlo"/>
                <a:cs typeface="Menlo"/>
              </a:rPr>
              <a:t>* dd69e74  release: harden v0.9.2 candidate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A29158-9AE5-4C33-A0A8-8BDF85EEB65B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1D0C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D0C3"/>
                </a:solidFill>
                <a:latin typeface="Menlo"/>
                <a:ea typeface="Menlo"/>
                <a:cs typeface="Menlo"/>
              </a:rPr>
              <a:t>* 13c2d9f  docs: SheetBench 1135 定论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9A7BE-9147-4706-B3D3-E2D38F27CDC2}"/>
              </a:ext>
            </a:extLst>
          </p:cNvPr>
          <p:cNvSpPr>
            <a:spLocks noGrp="1"/>
          </p:cNvSpPr>
          <p:nvPr/>
        </p:nvSpPr>
        <p:spPr>
          <a:xfrm>
            <a:off x="800100" y="32480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0D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E0D9"/>
                </a:solidFill>
                <a:latin typeface="Menlo"/>
                <a:ea typeface="Menlo"/>
                <a:cs typeface="Menlo"/>
              </a:rPr>
              <a:t>* 727f1b5  Merge pull request #6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6AA94C-2482-4FA8-9C69-9E56ECFC73E6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0D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E0D9"/>
                </a:solidFill>
                <a:latin typeface="Menlo"/>
                <a:ea typeface="Menlo"/>
                <a:cs typeface="Menlo"/>
              </a:rPr>
              <a:t>|\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08A86A-9826-4CD7-BA41-E5B32D8E6038}"/>
              </a:ext>
            </a:extLst>
          </p:cNvPr>
          <p:cNvSpPr>
            <a:spLocks noGrp="1"/>
          </p:cNvSpPr>
          <p:nvPr/>
        </p:nvSpPr>
        <p:spPr>
          <a:xfrm>
            <a:off x="800100" y="383857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0D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E0D9"/>
                </a:solidFill>
                <a:latin typeface="Menlo"/>
                <a:ea typeface="Menlo"/>
                <a:cs typeface="Menlo"/>
              </a:rPr>
              <a:t>| * 5db1bb6 smoke: deletion lifecycle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78B58-75BD-420A-AC0F-C2DEE8D3BCB8}"/>
              </a:ext>
            </a:extLst>
          </p:cNvPr>
          <p:cNvSpPr>
            <a:spLocks noGrp="1"/>
          </p:cNvSpPr>
          <p:nvPr/>
        </p:nvSpPr>
        <p:spPr>
          <a:xfrm>
            <a:off x="800100" y="413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0D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E0D9"/>
                </a:solidFill>
                <a:latin typeface="Menlo"/>
                <a:ea typeface="Menlo"/>
                <a:cs typeface="Menlo"/>
              </a:rPr>
              <a:t>* | 375d4ef  (tag: v0.9.1-mvp) PR #5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AE8742-E718-4739-9116-DE2264B2C768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0D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E0D9"/>
                </a:solidFill>
                <a:latin typeface="Menlo"/>
                <a:ea typeface="Menlo"/>
                <a:cs typeface="Menlo"/>
              </a:rPr>
              <a:t>|/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4A91A3-EF2F-4BED-97F4-20C4F74A5AFA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0D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E0D9"/>
                </a:solidFill>
                <a:latin typeface="Menlo"/>
                <a:ea typeface="Menlo"/>
                <a:cs typeface="Menlo"/>
              </a:rPr>
              <a:t>* 42871cc  (tag: v0.9-mvp) MVP merge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6F2AF6A-0A59-4DA6-B20A-BC4135A97E88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771650" cy="247650"/>
          </a:xfrm>
          <a:prstGeom prst="roundRect">
            <a:avLst>
              <a:gd name="adj" fmla="val 30769"/>
            </a:avLst>
          </a:prstGeom>
          <a:solidFill>
            <a:srgbClr val="342F2B"/>
          </a:solidFill>
          <a:ln w="9525">
            <a:solidFill>
              <a:srgbClr val="A4472F"/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F1D0C3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1D0C3"/>
                </a:solidFill>
                <a:latin typeface="PingFang SC"/>
                <a:ea typeface="PingFang SC"/>
                <a:cs typeface="PingFang SC"/>
              </a:rPr>
              <a:t>LOCAL MAIN · AHEAD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4EC22D-1AC0-4518-80D2-C5C559E0AC4B}"/>
              </a:ext>
            </a:extLst>
          </p:cNvPr>
          <p:cNvSpPr>
            <a:spLocks noGrp="1"/>
          </p:cNvSpPr>
          <p:nvPr/>
        </p:nvSpPr>
        <p:spPr>
          <a:xfrm>
            <a:off x="2724150" y="5257800"/>
            <a:ext cx="2762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BFB3A9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BFB3A9"/>
                </a:solidFill>
                <a:latin typeface="Menlo"/>
                <a:ea typeface="Menlo"/>
                <a:cs typeface="Menlo"/>
              </a:rPr>
              <a:t>origin/main 目前停在 13c2d9f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526C6A-F5C6-4938-AD16-E6DC1D74D527}"/>
              </a:ext>
            </a:extLst>
          </p:cNvPr>
          <p:cNvSpPr>
            <a:spLocks noGrp="1"/>
          </p:cNvSpPr>
          <p:nvPr/>
        </p:nvSpPr>
        <p:spPr>
          <a:xfrm>
            <a:off x="6610350" y="2076450"/>
            <a:ext cx="28575" cy="45720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69F7DAB-38F6-4B12-A3C8-AD233548A8E9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304800" cy="3048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500397-98D6-4661-9061-967C0A963202}"/>
              </a:ext>
            </a:extLst>
          </p:cNvPr>
          <p:cNvSpPr>
            <a:spLocks noGrp="1"/>
          </p:cNvSpPr>
          <p:nvPr/>
        </p:nvSpPr>
        <p:spPr>
          <a:xfrm>
            <a:off x="6953250" y="1828800"/>
            <a:ext cx="3429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需求拆分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40565E-1F44-41CF-934F-3C54268D8EB8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28575" cy="45720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ABFEA5-0628-480C-BFEB-3626D66ACE80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304800" cy="3048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BB0BDE-ACBB-4EE7-8E4B-459F20837DB9}"/>
              </a:ext>
            </a:extLst>
          </p:cNvPr>
          <p:cNvSpPr>
            <a:spLocks noGrp="1"/>
          </p:cNvSpPr>
          <p:nvPr/>
        </p:nvSpPr>
        <p:spPr>
          <a:xfrm>
            <a:off x="6953250" y="2324100"/>
            <a:ext cx="3429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功能分支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773165-6D01-4BE3-9398-1A7F3D0A2A5D}"/>
              </a:ext>
            </a:extLst>
          </p:cNvPr>
          <p:cNvSpPr>
            <a:spLocks noGrp="1"/>
          </p:cNvSpPr>
          <p:nvPr/>
        </p:nvSpPr>
        <p:spPr>
          <a:xfrm>
            <a:off x="6610350" y="3067050"/>
            <a:ext cx="28575" cy="45720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01C0544-8587-4281-9686-58D583A1F4B6}"/>
              </a:ext>
            </a:extLst>
          </p:cNvPr>
          <p:cNvSpPr>
            <a:spLocks noGrp="1"/>
          </p:cNvSpPr>
          <p:nvPr/>
        </p:nvSpPr>
        <p:spPr>
          <a:xfrm>
            <a:off x="6477000" y="2800350"/>
            <a:ext cx="304800" cy="3048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30E709-310F-4B4A-BDFC-548FF63463E7}"/>
              </a:ext>
            </a:extLst>
          </p:cNvPr>
          <p:cNvSpPr>
            <a:spLocks noGrp="1"/>
          </p:cNvSpPr>
          <p:nvPr/>
        </p:nvSpPr>
        <p:spPr>
          <a:xfrm>
            <a:off x="6953250" y="2819400"/>
            <a:ext cx="3429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小步 commit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EE3EA1-CDE0-4319-B7D9-1E5640079C90}"/>
              </a:ext>
            </a:extLst>
          </p:cNvPr>
          <p:cNvSpPr>
            <a:spLocks noGrp="1"/>
          </p:cNvSpPr>
          <p:nvPr/>
        </p:nvSpPr>
        <p:spPr>
          <a:xfrm>
            <a:off x="6610350" y="3562350"/>
            <a:ext cx="28575" cy="45720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41524-2147-4245-ACE8-F3A0393AFDB1}"/>
              </a:ext>
            </a:extLst>
          </p:cNvPr>
          <p:cNvSpPr>
            <a:spLocks noGrp="1"/>
          </p:cNvSpPr>
          <p:nvPr/>
        </p:nvSpPr>
        <p:spPr>
          <a:xfrm>
            <a:off x="6477000" y="3295650"/>
            <a:ext cx="304800" cy="3048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CD814C-8238-419A-ACAD-4C8702A258F5}"/>
              </a:ext>
            </a:extLst>
          </p:cNvPr>
          <p:cNvSpPr>
            <a:spLocks noGrp="1"/>
          </p:cNvSpPr>
          <p:nvPr/>
        </p:nvSpPr>
        <p:spPr>
          <a:xfrm>
            <a:off x="6953250" y="3314700"/>
            <a:ext cx="3429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Review + Test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95D71A-CA8D-4B94-99AC-5F5EF00679F7}"/>
              </a:ext>
            </a:extLst>
          </p:cNvPr>
          <p:cNvSpPr>
            <a:spLocks noGrp="1"/>
          </p:cNvSpPr>
          <p:nvPr/>
        </p:nvSpPr>
        <p:spPr>
          <a:xfrm>
            <a:off x="6610350" y="4057650"/>
            <a:ext cx="28575" cy="45720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0B9619F-80F1-479C-810E-6CCA324C20FB}"/>
              </a:ext>
            </a:extLst>
          </p:cNvPr>
          <p:cNvSpPr>
            <a:spLocks noGrp="1"/>
          </p:cNvSpPr>
          <p:nvPr/>
        </p:nvSpPr>
        <p:spPr>
          <a:xfrm>
            <a:off x="6477000" y="3790950"/>
            <a:ext cx="304800" cy="30480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8B1DFB-0EFF-4AA2-9158-AD177BE46331}"/>
              </a:ext>
            </a:extLst>
          </p:cNvPr>
          <p:cNvSpPr>
            <a:spLocks noGrp="1"/>
          </p:cNvSpPr>
          <p:nvPr/>
        </p:nvSpPr>
        <p:spPr>
          <a:xfrm>
            <a:off x="6953250" y="3810000"/>
            <a:ext cx="3429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PR merge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5F3D67-1853-4BD3-BE9E-698A00FF7FD3}"/>
              </a:ext>
            </a:extLst>
          </p:cNvPr>
          <p:cNvSpPr>
            <a:spLocks noGrp="1"/>
          </p:cNvSpPr>
          <p:nvPr/>
        </p:nvSpPr>
        <p:spPr>
          <a:xfrm>
            <a:off x="6610350" y="4552950"/>
            <a:ext cx="28575" cy="45720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4BD4F72-7AC9-4AF5-8B41-63CA9382ECAE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304800" cy="30480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EE8B12-1014-44DA-9CD3-30665FC13658}"/>
              </a:ext>
            </a:extLst>
          </p:cNvPr>
          <p:cNvSpPr>
            <a:spLocks noGrp="1"/>
          </p:cNvSpPr>
          <p:nvPr/>
        </p:nvSpPr>
        <p:spPr>
          <a:xfrm>
            <a:off x="6953250" y="4305300"/>
            <a:ext cx="3429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Release Gate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1A45F20-88C7-4EF3-BCFA-5CABEB625B50}"/>
              </a:ext>
            </a:extLst>
          </p:cNvPr>
          <p:cNvSpPr>
            <a:spLocks noGrp="1"/>
          </p:cNvSpPr>
          <p:nvPr/>
        </p:nvSpPr>
        <p:spPr>
          <a:xfrm>
            <a:off x="6477000" y="4781550"/>
            <a:ext cx="304800" cy="304800"/>
          </a:xfrm>
          <a:prstGeom prst="ellipse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DD1CC3-62F6-43AB-BC09-6532AB8B83AA}"/>
              </a:ext>
            </a:extLst>
          </p:cNvPr>
          <p:cNvSpPr>
            <a:spLocks noGrp="1"/>
          </p:cNvSpPr>
          <p:nvPr/>
        </p:nvSpPr>
        <p:spPr>
          <a:xfrm>
            <a:off x="6953250" y="4800600"/>
            <a:ext cx="3429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Annotated tag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488243B-526E-40AB-87EE-933336FCC6F3}"/>
              </a:ext>
            </a:extLst>
          </p:cNvPr>
          <p:cNvSpPr>
            <a:spLocks noGrp="1"/>
          </p:cNvSpPr>
          <p:nvPr/>
        </p:nvSpPr>
        <p:spPr>
          <a:xfrm>
            <a:off x="8763000" y="1847850"/>
            <a:ext cx="1428750" cy="266700"/>
          </a:xfrm>
          <a:prstGeom prst="roundRect">
            <a:avLst>
              <a:gd name="adj" fmla="val 28571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6 MERGED PRs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4597131-60D7-49D7-B61A-B5EDF56E804D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1695450" cy="266700"/>
          </a:xfrm>
          <a:prstGeom prst="roundRect">
            <a:avLst>
              <a:gd name="adj" fmla="val 28571"/>
            </a:avLst>
          </a:prstGeom>
          <a:solidFill>
            <a:srgbClr val="F1E7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2 RELEASED TAGS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F9F8A6D-8AD4-447F-AF97-DE2948A8701A}"/>
              </a:ext>
            </a:extLst>
          </p:cNvPr>
          <p:cNvSpPr>
            <a:spLocks noGrp="1"/>
          </p:cNvSpPr>
          <p:nvPr/>
        </p:nvSpPr>
        <p:spPr>
          <a:xfrm>
            <a:off x="6477000" y="541020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F1E7C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CEE7B9-A5A0-4099-A807-37664D650710}"/>
              </a:ext>
            </a:extLst>
          </p:cNvPr>
          <p:cNvSpPr>
            <a:spLocks noGrp="1"/>
          </p:cNvSpPr>
          <p:nvPr/>
        </p:nvSpPr>
        <p:spPr>
          <a:xfrm>
            <a:off x="6667500" y="5562600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11A16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11A16"/>
                </a:solidFill>
                <a:latin typeface="Menlo"/>
                <a:ea typeface="Menlo"/>
                <a:cs typeface="Menlo"/>
              </a:rPr>
              <a:t>v0.9-mvp  →  v0.9.1-mvp  →  v0.9.2-mvp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594EF9-DA5F-4EB6-B02C-589A565DA2F5}"/>
              </a:ext>
            </a:extLst>
          </p:cNvPr>
          <p:cNvSpPr>
            <a:spLocks noGrp="1"/>
          </p:cNvSpPr>
          <p:nvPr/>
        </p:nvSpPr>
        <p:spPr>
          <a:xfrm>
            <a:off x="6629400" y="59626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3916CD0-75EB-4A0D-B7E0-FF9A34D65810}"/>
              </a:ext>
            </a:extLst>
          </p:cNvPr>
          <p:cNvSpPr>
            <a:spLocks noGrp="1"/>
          </p:cNvSpPr>
          <p:nvPr/>
        </p:nvSpPr>
        <p:spPr>
          <a:xfrm>
            <a:off x="8096250" y="59626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1B4F9C-A0B0-459C-B4B8-41A608E756EC}"/>
              </a:ext>
            </a:extLst>
          </p:cNvPr>
          <p:cNvSpPr>
            <a:spLocks noGrp="1"/>
          </p:cNvSpPr>
          <p:nvPr/>
        </p:nvSpPr>
        <p:spPr>
          <a:xfrm>
            <a:off x="9677400" y="59626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待 push / tag</a:t>
            </a:r>
          </a:p>
        </p:txBody>
      </p:sp>
    </p:spTree>
    <p:extLst>
      <p:ext uri="{BB962C8B-B14F-4D97-AF65-F5344CB8AC3E}">
        <p14:creationId xmlns:p14="http://schemas.microsoft.com/office/powerpoint/2010/main" val="310910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A13E47-63CE-4F92-B128-B27D1A25DA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84E981-D08E-46DF-B986-9D7AC451E952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06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测试策略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67E07A-FA70-475C-859F-9ED94C7628D6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测试不是收尾动作，而是贯穿整个开发过程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1F014F-47AA-4E0B-8394-9057ED979475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每次关键问题：稳定复现 → 最小修复 → 回归测试 → 全量 Gate。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E76BE-6252-4D7C-8023-663CF7B0F78C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3300A-E03A-45D1-88E1-AD0E4CD1B7C3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F0245-D6FA-467D-AB59-8D9C72888E92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6D5604-4E20-466A-9202-EC599EE3B44B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3333750" cy="666750"/>
          </a:xfrm>
          <a:prstGeom prst="roundRect">
            <a:avLst>
              <a:gd name="adj" fmla="val 11429"/>
            </a:avLst>
          </a:prstGeom>
          <a:solidFill>
            <a:srgbClr val="FFFDF9"/>
          </a:solidFill>
          <a:ln w="9525">
            <a:solidFill>
              <a:srgbClr val="A447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AD1F1D-DC93-4562-85E3-A8AD3C53AFAC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用户层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A9B849-BCCE-451B-995E-081D44F7DE46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990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上传 · 分析 · 追问 · 下载 · 刷新恢复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5B16B9C-7B16-40B4-B10A-31D7163743C9}"/>
              </a:ext>
            </a:extLst>
          </p:cNvPr>
          <p:cNvSpPr>
            <a:spLocks noGrp="1"/>
          </p:cNvSpPr>
          <p:nvPr/>
        </p:nvSpPr>
        <p:spPr>
          <a:xfrm>
            <a:off x="881063" y="2895600"/>
            <a:ext cx="2905125" cy="66675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9525">
            <a:solidFill>
              <a:srgbClr val="314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3FFCDB-AF08-4413-A7B0-06325E5691E3}"/>
              </a:ext>
            </a:extLst>
          </p:cNvPr>
          <p:cNvSpPr>
            <a:spLocks noGrp="1"/>
          </p:cNvSpPr>
          <p:nvPr/>
        </p:nvSpPr>
        <p:spPr>
          <a:xfrm>
            <a:off x="1052513" y="30289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服务层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85DC79-F5E2-4B1B-BFB4-505006D129C2}"/>
              </a:ext>
            </a:extLst>
          </p:cNvPr>
          <p:cNvSpPr>
            <a:spLocks noGrp="1"/>
          </p:cNvSpPr>
          <p:nvPr/>
        </p:nvSpPr>
        <p:spPr>
          <a:xfrm>
            <a:off x="1052513" y="3295650"/>
            <a:ext cx="2562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REST · WebSocket · 取消 · 并发 · 删除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B26B49-1DB1-4393-B1DE-1BE90E9B14A7}"/>
              </a:ext>
            </a:extLst>
          </p:cNvPr>
          <p:cNvSpPr>
            <a:spLocks noGrp="1"/>
          </p:cNvSpPr>
          <p:nvPr/>
        </p:nvSpPr>
        <p:spPr>
          <a:xfrm>
            <a:off x="1095375" y="3733800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FFDF9"/>
          </a:solidFill>
          <a:ln w="9525">
            <a:solidFill>
              <a:srgbClr val="B8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3FF513-3777-4905-B01E-5B7BF0F3C066}"/>
              </a:ext>
            </a:extLst>
          </p:cNvPr>
          <p:cNvSpPr>
            <a:spLocks noGrp="1"/>
          </p:cNvSpPr>
          <p:nvPr/>
        </p:nvSpPr>
        <p:spPr>
          <a:xfrm>
            <a:off x="1266825" y="38671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Agent 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F58A7D-A35D-46E9-B943-F6C8E682522E}"/>
              </a:ext>
            </a:extLst>
          </p:cNvPr>
          <p:cNvSpPr>
            <a:spLocks noGrp="1"/>
          </p:cNvSpPr>
          <p:nvPr/>
        </p:nvSpPr>
        <p:spPr>
          <a:xfrm>
            <a:off x="1266825" y="413385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Planner · Executor · Checker · 工具约束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D6CA11B-CDDE-463C-A40A-D361B51889EF}"/>
              </a:ext>
            </a:extLst>
          </p:cNvPr>
          <p:cNvSpPr>
            <a:spLocks noGrp="1"/>
          </p:cNvSpPr>
          <p:nvPr/>
        </p:nvSpPr>
        <p:spPr>
          <a:xfrm>
            <a:off x="1309688" y="4572000"/>
            <a:ext cx="2047875" cy="66675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9525">
            <a:solidFill>
              <a:srgbClr val="2F6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DEA872-CB50-4919-A5CC-56A707E275E5}"/>
              </a:ext>
            </a:extLst>
          </p:cNvPr>
          <p:cNvSpPr>
            <a:spLocks noGrp="1"/>
          </p:cNvSpPr>
          <p:nvPr/>
        </p:nvSpPr>
        <p:spPr>
          <a:xfrm>
            <a:off x="1481138" y="47053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数据层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46A60E-71DF-4348-B421-24BAD9E07E64}"/>
              </a:ext>
            </a:extLst>
          </p:cNvPr>
          <p:cNvSpPr>
            <a:spLocks noGrp="1"/>
          </p:cNvSpPr>
          <p:nvPr/>
        </p:nvSpPr>
        <p:spPr>
          <a:xfrm>
            <a:off x="1481138" y="4972050"/>
            <a:ext cx="17049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复杂表头 · 重复列 · 公式 · 工作簿读取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1F10E3-5A3A-4725-BADF-A5BD1BECA103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3333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RISK-DRIVEN COVERAGE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rcRect t="5054" b="5054"/>
          <a:stretch>
            <a:fillRect/>
          </a:stretch>
        </p:blipFill>
        <p:spPr>
          <a:xfrm>
            <a:off x="4514850" y="1752600"/>
            <a:ext cx="7086600" cy="3981450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A4DD047-48EA-4B5C-A2B7-25EFE32D5FAD}"/>
              </a:ext>
            </a:extLst>
          </p:cNvPr>
          <p:cNvSpPr>
            <a:spLocks noGrp="1"/>
          </p:cNvSpPr>
          <p:nvPr/>
        </p:nvSpPr>
        <p:spPr>
          <a:xfrm>
            <a:off x="4514850" y="1752600"/>
            <a:ext cx="7086600" cy="3981450"/>
          </a:xfrm>
          <a:prstGeom prst="roundRect">
            <a:avLst>
              <a:gd name="adj" fmla="val 1914"/>
            </a:avLst>
          </a:prstGeom>
          <a:solidFill>
            <a:srgbClr val="000000">
              <a:alpha val="0"/>
            </a:srgbClr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A2926C2-E6FD-4F9E-BBB4-38AF5A40CCE9}"/>
              </a:ext>
            </a:extLst>
          </p:cNvPr>
          <p:cNvSpPr>
            <a:spLocks noGrp="1"/>
          </p:cNvSpPr>
          <p:nvPr/>
        </p:nvSpPr>
        <p:spPr>
          <a:xfrm>
            <a:off x="7524750" y="5410200"/>
            <a:ext cx="3429000" cy="304800"/>
          </a:xfrm>
          <a:prstGeom prst="roundRect">
            <a:avLst>
              <a:gd name="adj" fmla="val 25000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7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真实浏览器：运行中状态 + 停止路径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75B5FE-FA25-4BE8-AD20-D02585162E58}"/>
              </a:ext>
            </a:extLst>
          </p:cNvPr>
          <p:cNvSpPr>
            <a:spLocks noGrp="1"/>
          </p:cNvSpPr>
          <p:nvPr/>
        </p:nvSpPr>
        <p:spPr>
          <a:xfrm>
            <a:off x="4514850" y="5886450"/>
            <a:ext cx="7086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Happy path 之外，取消、超时、错误输入、路径安全与恢复同样进入验收。</a:t>
            </a:r>
          </a:p>
        </p:txBody>
      </p:sp>
    </p:spTree>
    <p:extLst>
      <p:ext uri="{BB962C8B-B14F-4D97-AF65-F5344CB8AC3E}">
        <p14:creationId xmlns:p14="http://schemas.microsoft.com/office/powerpoint/2010/main" val="47450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D28AF6B-1A19-401D-B3AB-0C94689209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62E96A-9D62-4E6F-901A-A5EFF330CDD6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07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质量验证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3D342-F130-48E7-891F-907E23B95563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299 项自动化测试只是起点，最终结果必须在真实环境成立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312D9-7009-4C0E-88DE-51A4CFD6AEE0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代码回归、生产构建、发布预检和真实浏览器互相补充。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F864DB-A5CE-48C9-817D-949EBC245CD3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969F6-EF5C-4B5A-850C-C0763866BF5C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C1A012-7835-452A-BB8F-FD739E5C54A2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675D1A0-FBAC-4354-A2CE-C7181023FE0A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1600200" cy="1162050"/>
          </a:xfrm>
          <a:prstGeom prst="roundRect">
            <a:avLst>
              <a:gd name="adj" fmla="val 6557"/>
            </a:avLst>
          </a:prstGeom>
          <a:solidFill>
            <a:srgbClr val="F1DED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9F731B-62D7-4D14-B804-63EACFF203F1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409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299 / 299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EBABB8-6ED1-40C7-A19A-CD8E973A4629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Python tests passed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D567B1-EA7F-427A-A09A-8D98FE0913E5}"/>
              </a:ext>
            </a:extLst>
          </p:cNvPr>
          <p:cNvSpPr>
            <a:spLocks noGrp="1"/>
          </p:cNvSpPr>
          <p:nvPr/>
        </p:nvSpPr>
        <p:spPr>
          <a:xfrm>
            <a:off x="2343150" y="1752600"/>
            <a:ext cx="1600200" cy="1162050"/>
          </a:xfrm>
          <a:prstGeom prst="roundRect">
            <a:avLst>
              <a:gd name="adj" fmla="val 6557"/>
            </a:avLst>
          </a:prstGeom>
          <a:solidFill>
            <a:srgbClr val="DDEAE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2FF100-F157-4F0C-BDEB-F8B8BFEE6AF4}"/>
              </a:ext>
            </a:extLst>
          </p:cNvPr>
          <p:cNvSpPr>
            <a:spLocks noGrp="1"/>
          </p:cNvSpPr>
          <p:nvPr/>
        </p:nvSpPr>
        <p:spPr>
          <a:xfrm>
            <a:off x="2438400" y="1905000"/>
            <a:ext cx="1409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7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10 / 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341DFA-61BB-49E1-8F88-05FE6BA9B6C1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Release preflight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5F4C06F-F0C7-4DA3-BA3B-55216982C424}"/>
              </a:ext>
            </a:extLst>
          </p:cNvPr>
          <p:cNvSpPr>
            <a:spLocks noGrp="1"/>
          </p:cNvSpPr>
          <p:nvPr/>
        </p:nvSpPr>
        <p:spPr>
          <a:xfrm>
            <a:off x="4095750" y="1752600"/>
            <a:ext cx="1600200" cy="1162050"/>
          </a:xfrm>
          <a:prstGeom prst="roundRect">
            <a:avLst>
              <a:gd name="adj" fmla="val 6557"/>
            </a:avLst>
          </a:prstGeom>
          <a:solidFill>
            <a:srgbClr val="F1E7C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20FD8C-6BF5-411B-A218-1CE9107DB5ED}"/>
              </a:ext>
            </a:extLst>
          </p:cNvPr>
          <p:cNvSpPr>
            <a:spLocks noGrp="1"/>
          </p:cNvSpPr>
          <p:nvPr/>
        </p:nvSpPr>
        <p:spPr>
          <a:xfrm>
            <a:off x="4191000" y="1905000"/>
            <a:ext cx="1409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7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2 × E2E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B7B4C-270D-4FF0-929C-8C7139EBE495}"/>
              </a:ext>
            </a:extLst>
          </p:cNvPr>
          <p:cNvSpPr>
            <a:spLocks noGrp="1"/>
          </p:cNvSpPr>
          <p:nvPr/>
        </p:nvSpPr>
        <p:spPr>
          <a:xfrm>
            <a:off x="4191000" y="245745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首问 + 追问连续通过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101AB7D-5C3E-4E1D-A05E-84EBA63237D5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5105400" cy="2609850"/>
          </a:xfrm>
          <a:prstGeom prst="roundRect">
            <a:avLst>
              <a:gd name="adj" fmla="val 292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5F845F-0D95-4B60-B677-E84F6565DA5B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四层质量 Gate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EAA51A-187B-4876-BF5C-17BDF1E63677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247650" cy="2476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5F05B2-A697-41A1-8F81-9FB1490C6735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自动化回归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067CBD-0232-47BE-8C62-1FD2166C2286}"/>
              </a:ext>
            </a:extLst>
          </p:cNvPr>
          <p:cNvSpPr>
            <a:spLocks noGrp="1"/>
          </p:cNvSpPr>
          <p:nvPr/>
        </p:nvSpPr>
        <p:spPr>
          <a:xfrm>
            <a:off x="2800350" y="3800475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局部逻辑和跨模块回归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539FEF-71B1-4AE6-8DD7-B13ACAE2961F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247650" cy="2476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0BF412-9D6E-4D08-A32E-14E73D8DA72C}"/>
              </a:ext>
            </a:extLst>
          </p:cNvPr>
          <p:cNvSpPr>
            <a:spLocks noGrp="1"/>
          </p:cNvSpPr>
          <p:nvPr/>
        </p:nvSpPr>
        <p:spPr>
          <a:xfrm>
            <a:off x="1200150" y="422910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Production build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0F6F03-847C-48B3-A4F4-B553B3D77720}"/>
              </a:ext>
            </a:extLst>
          </p:cNvPr>
          <p:cNvSpPr>
            <a:spLocks noGrp="1"/>
          </p:cNvSpPr>
          <p:nvPr/>
        </p:nvSpPr>
        <p:spPr>
          <a:xfrm>
            <a:off x="2800350" y="4238625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React / TypeScript 可交付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4E6DCF8-2C25-49D9-BBD3-0ABE24F0FE41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247650" cy="2476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AD5F01-FA77-43E4-B7E0-314060E4DF70}"/>
              </a:ext>
            </a:extLst>
          </p:cNvPr>
          <p:cNvSpPr>
            <a:spLocks noGrp="1"/>
          </p:cNvSpPr>
          <p:nvPr/>
        </p:nvSpPr>
        <p:spPr>
          <a:xfrm>
            <a:off x="1200150" y="466725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Release preflight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A94C31-D800-4B03-8755-990F81E73581}"/>
              </a:ext>
            </a:extLst>
          </p:cNvPr>
          <p:cNvSpPr>
            <a:spLocks noGrp="1"/>
          </p:cNvSpPr>
          <p:nvPr/>
        </p:nvSpPr>
        <p:spPr>
          <a:xfrm>
            <a:off x="2800350" y="4676775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服务、版本、工作簿、LLM/Pi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1B12BF1-C7FB-45CE-A499-BBC8ED8DA8EB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247650" cy="24765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1207F5-6D01-4C20-8FDC-050CF481088A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Real browser E2E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2558-4BDD-49AC-8597-62054CA00131}"/>
              </a:ext>
            </a:extLst>
          </p:cNvPr>
          <p:cNvSpPr>
            <a:spLocks noGrp="1"/>
          </p:cNvSpPr>
          <p:nvPr/>
        </p:nvSpPr>
        <p:spPr>
          <a:xfrm>
            <a:off x="2800350" y="5114925"/>
            <a:ext cx="255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1440×900 + 1920×1080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5175448-37CE-4864-AA87-69C902C6EC59}"/>
              </a:ext>
            </a:extLst>
          </p:cNvPr>
          <p:cNvSpPr>
            <a:spLocks noGrp="1"/>
          </p:cNvSpPr>
          <p:nvPr/>
        </p:nvSpPr>
        <p:spPr>
          <a:xfrm>
            <a:off x="819150" y="5391150"/>
            <a:ext cx="4648200" cy="247650"/>
          </a:xfrm>
          <a:prstGeom prst="roundRect">
            <a:avLst>
              <a:gd name="adj" fmla="val 30769"/>
            </a:avLst>
          </a:prstGeom>
          <a:solidFill>
            <a:srgbClr val="DFE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SheetBench：21/21 稳定收口 · 0 unhandled exception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3"/>
          <a:srcRect l="6457" r="6457"/>
          <a:stretch>
            <a:fillRect/>
          </a:stretch>
        </p:blipFill>
        <p:spPr>
          <a:xfrm>
            <a:off x="6000750" y="1752600"/>
            <a:ext cx="5600700" cy="4019550"/>
          </a:xfrm>
          <a:prstGeom prst="rect">
            <a:avLst/>
          </a:prstGeom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F8BDFEB-7F5E-42E5-9ADC-E14BFEB12E84}"/>
              </a:ext>
            </a:extLst>
          </p:cNvPr>
          <p:cNvSpPr>
            <a:spLocks noGrp="1"/>
          </p:cNvSpPr>
          <p:nvPr/>
        </p:nvSpPr>
        <p:spPr>
          <a:xfrm>
            <a:off x="6000750" y="1752600"/>
            <a:ext cx="5600700" cy="4019550"/>
          </a:xfrm>
          <a:prstGeom prst="roundRect">
            <a:avLst>
              <a:gd name="adj" fmla="val 1896"/>
            </a:avLst>
          </a:prstGeom>
          <a:solidFill>
            <a:srgbClr val="000000">
              <a:alpha val="0"/>
            </a:srgbClr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2707BA-72B6-420A-8021-DC7AD241EEE9}"/>
              </a:ext>
            </a:extLst>
          </p:cNvPr>
          <p:cNvSpPr>
            <a:spLocks noGrp="1"/>
          </p:cNvSpPr>
          <p:nvPr/>
        </p:nvSpPr>
        <p:spPr>
          <a:xfrm>
            <a:off x="6000750" y="5905500"/>
            <a:ext cx="560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标准答案由原始 Excel 独立核对，不用模型输出反推。</a:t>
            </a:r>
          </a:p>
        </p:txBody>
      </p:sp>
    </p:spTree>
    <p:extLst>
      <p:ext uri="{BB962C8B-B14F-4D97-AF65-F5344CB8AC3E}">
        <p14:creationId xmlns:p14="http://schemas.microsoft.com/office/powerpoint/2010/main" val="78313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30046F0-CE2D-45E3-822F-6E5F4828F3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A4AFA1-3126-41C3-9559-38FB0638B6A2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08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根因工程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CEC33A-1499-417E-898C-6574A2D25A50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成熟的工程能力，体现在问题能被定位并防止复发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5AE1F9-508C-44FE-A5EB-C1B40D707071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三个真实故障，从表象走到通用根因、最小修复和回归保护。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1FFE4-9BA1-4020-AB5A-F14602DB74B0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C18BD-CC46-4713-B49C-917F431F100F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29887-9B59-41A0-9D58-D546C2B5D243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DA510F-7421-4E8D-9EDF-6B21FDFB3BF6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11010900" cy="1066800"/>
          </a:xfrm>
          <a:prstGeom prst="roundRect">
            <a:avLst>
              <a:gd name="adj" fmla="val 7143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C88249-7ECD-4E92-BF11-7471A234D537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323850" cy="3238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5FE0F-52D6-4F91-8715-FF63E45AA728}"/>
              </a:ext>
            </a:extLst>
          </p:cNvPr>
          <p:cNvSpPr>
            <a:spLocks noGrp="1"/>
          </p:cNvSpPr>
          <p:nvPr/>
        </p:nvSpPr>
        <p:spPr>
          <a:xfrm>
            <a:off x="1276350" y="192405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Agent 越权执行 Git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F836CC-E5CC-4B5A-AC22-D84B6F9BF93A}"/>
              </a:ext>
            </a:extLst>
          </p:cNvPr>
          <p:cNvSpPr>
            <a:spLocks noGrp="1"/>
          </p:cNvSpPr>
          <p:nvPr/>
        </p:nvSpPr>
        <p:spPr>
          <a:xfrm>
            <a:off x="4343400" y="1905000"/>
            <a:ext cx="609600" cy="209550"/>
          </a:xfrm>
          <a:prstGeom prst="roundRect">
            <a:avLst>
              <a:gd name="adj" fmla="val 36364"/>
            </a:avLst>
          </a:prstGeom>
          <a:solidFill>
            <a:srgbClr val="EFE9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根因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E6D3CD-4940-471F-B171-D2F905C78072}"/>
              </a:ext>
            </a:extLst>
          </p:cNvPr>
          <p:cNvSpPr>
            <a:spLocks noGrp="1"/>
          </p:cNvSpPr>
          <p:nvPr/>
        </p:nvSpPr>
        <p:spPr>
          <a:xfrm>
            <a:off x="5086350" y="1895475"/>
            <a:ext cx="596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读取了仓库编码规则，把提交要求误用于分析任务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1D1ABAF-ABF9-43FF-8B0B-C7B9BAE821D9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1028700" cy="209550"/>
          </a:xfrm>
          <a:prstGeom prst="roundRect">
            <a:avLst>
              <a:gd name="adj" fmla="val 36364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修复 / 防复发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F43E81-6B5A-4AC7-B447-FB360558DA74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554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禁用 context files · 限制工具 · GIT_DIR=/dev/null · 回归测试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7AF7CD-2747-4F13-905B-871D45DD8BE6}"/>
              </a:ext>
            </a:extLst>
          </p:cNvPr>
          <p:cNvSpPr>
            <a:spLocks noGrp="1"/>
          </p:cNvSpPr>
          <p:nvPr/>
        </p:nvSpPr>
        <p:spPr>
          <a:xfrm>
            <a:off x="590550" y="3009900"/>
            <a:ext cx="11010900" cy="1066800"/>
          </a:xfrm>
          <a:prstGeom prst="roundRect">
            <a:avLst>
              <a:gd name="adj" fmla="val 7143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B1BB87-0BC2-4117-A510-7C964C51EC84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323850" cy="323850"/>
          </a:xfrm>
          <a:prstGeom prst="ellipse">
            <a:avLst/>
          </a:prstGeom>
          <a:solidFill>
            <a:srgbClr val="314E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3AB9C5-BB83-46AE-9678-968FF8244218}"/>
              </a:ext>
            </a:extLst>
          </p:cNvPr>
          <p:cNvSpPr>
            <a:spLocks noGrp="1"/>
          </p:cNvSpPr>
          <p:nvPr/>
        </p:nvSpPr>
        <p:spPr>
          <a:xfrm>
            <a:off x="1276350" y="318135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运行脚本触发 reload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92A8F4D-26E6-44E4-A1C6-044639762FFC}"/>
              </a:ext>
            </a:extLst>
          </p:cNvPr>
          <p:cNvSpPr>
            <a:spLocks noGrp="1"/>
          </p:cNvSpPr>
          <p:nvPr/>
        </p:nvSpPr>
        <p:spPr>
          <a:xfrm>
            <a:off x="4343400" y="3162300"/>
            <a:ext cx="609600" cy="209550"/>
          </a:xfrm>
          <a:prstGeom prst="roundRect">
            <a:avLst>
              <a:gd name="adj" fmla="val 36364"/>
            </a:avLst>
          </a:prstGeom>
          <a:solidFill>
            <a:srgbClr val="EFE9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根因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C68738-9BD3-4B4A-8A51-1F9CB627B281}"/>
              </a:ext>
            </a:extLst>
          </p:cNvPr>
          <p:cNvSpPr>
            <a:spLocks noGrp="1"/>
          </p:cNvSpPr>
          <p:nvPr/>
        </p:nvSpPr>
        <p:spPr>
          <a:xfrm>
            <a:off x="5086350" y="3152775"/>
            <a:ext cx="596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开发热重载覆盖了 Agent 生成的 workspace 脚本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BA5AE45-31E5-497F-8D8D-13E318B24BDE}"/>
              </a:ext>
            </a:extLst>
          </p:cNvPr>
          <p:cNvSpPr>
            <a:spLocks noGrp="1"/>
          </p:cNvSpPr>
          <p:nvPr/>
        </p:nvSpPr>
        <p:spPr>
          <a:xfrm>
            <a:off x="4343400" y="3638550"/>
            <a:ext cx="1028700" cy="209550"/>
          </a:xfrm>
          <a:prstGeom prst="roundRect">
            <a:avLst>
              <a:gd name="adj" fmla="val 36364"/>
            </a:avLst>
          </a:prstGeom>
          <a:solidFill>
            <a:srgbClr val="DFE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修复 / 防复发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EFE0EE-EBF0-41FB-870F-7B1538EB4D5F}"/>
              </a:ext>
            </a:extLst>
          </p:cNvPr>
          <p:cNvSpPr>
            <a:spLocks noGrp="1"/>
          </p:cNvSpPr>
          <p:nvPr/>
        </p:nvSpPr>
        <p:spPr>
          <a:xfrm>
            <a:off x="5505450" y="3609975"/>
            <a:ext cx="554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稳定模式不 reload；开发模式只监控 app/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0720FF6-F968-4CFC-B0B7-4FB3400640CD}"/>
              </a:ext>
            </a:extLst>
          </p:cNvPr>
          <p:cNvSpPr>
            <a:spLocks noGrp="1"/>
          </p:cNvSpPr>
          <p:nvPr/>
        </p:nvSpPr>
        <p:spPr>
          <a:xfrm>
            <a:off x="590550" y="4267200"/>
            <a:ext cx="11010900" cy="1066800"/>
          </a:xfrm>
          <a:prstGeom prst="roundRect">
            <a:avLst>
              <a:gd name="adj" fmla="val 7143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6533EF-3A87-48C4-920A-FDE396B1A637}"/>
              </a:ext>
            </a:extLst>
          </p:cNvPr>
          <p:cNvSpPr>
            <a:spLocks noGrp="1"/>
          </p:cNvSpPr>
          <p:nvPr/>
        </p:nvSpPr>
        <p:spPr>
          <a:xfrm>
            <a:off x="800100" y="4457700"/>
            <a:ext cx="323850" cy="32385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26E711-5F16-464D-9766-BF9E499D0B57}"/>
              </a:ext>
            </a:extLst>
          </p:cNvPr>
          <p:cNvSpPr>
            <a:spLocks noGrp="1"/>
          </p:cNvSpPr>
          <p:nvPr/>
        </p:nvSpPr>
        <p:spPr>
          <a:xfrm>
            <a:off x="1276350" y="443865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空白问题仍可提交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F2C1366-B2C4-4243-8B0F-129A45CCE9F6}"/>
              </a:ext>
            </a:extLst>
          </p:cNvPr>
          <p:cNvSpPr>
            <a:spLocks noGrp="1"/>
          </p:cNvSpPr>
          <p:nvPr/>
        </p:nvSpPr>
        <p:spPr>
          <a:xfrm>
            <a:off x="4343400" y="4419600"/>
            <a:ext cx="609600" cy="209550"/>
          </a:xfrm>
          <a:prstGeom prst="roundRect">
            <a:avLst>
              <a:gd name="adj" fmla="val 36364"/>
            </a:avLst>
          </a:prstGeom>
          <a:solidFill>
            <a:srgbClr val="EFE9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根因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B75B95-8625-4F87-9189-C4039811D0F0}"/>
              </a:ext>
            </a:extLst>
          </p:cNvPr>
          <p:cNvSpPr>
            <a:spLocks noGrp="1"/>
          </p:cNvSpPr>
          <p:nvPr/>
        </p:nvSpPr>
        <p:spPr>
          <a:xfrm>
            <a:off x="5086350" y="4410075"/>
            <a:ext cx="596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只检查文件，没有统一对 query 做 trim()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B4E2BEA-FB2D-462C-97E5-CD768F5ADCCE}"/>
              </a:ext>
            </a:extLst>
          </p:cNvPr>
          <p:cNvSpPr>
            <a:spLocks noGrp="1"/>
          </p:cNvSpPr>
          <p:nvPr/>
        </p:nvSpPr>
        <p:spPr>
          <a:xfrm>
            <a:off x="4343400" y="4895850"/>
            <a:ext cx="1028700" cy="209550"/>
          </a:xfrm>
          <a:prstGeom prst="roundRect">
            <a:avLst>
              <a:gd name="adj" fmla="val 36364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修复 / 防复发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54C928-F494-4745-A16A-A898047EAFB8}"/>
              </a:ext>
            </a:extLst>
          </p:cNvPr>
          <p:cNvSpPr>
            <a:spLocks noGrp="1"/>
          </p:cNvSpPr>
          <p:nvPr/>
        </p:nvSpPr>
        <p:spPr>
          <a:xfrm>
            <a:off x="5505450" y="4867275"/>
            <a:ext cx="554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提交入口、mutation、按钮状态统一空白守卫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3C7F59-6D2E-4894-B30D-A0F4A40C5AF8}"/>
              </a:ext>
            </a:extLst>
          </p:cNvPr>
          <p:cNvSpPr>
            <a:spLocks noGrp="1"/>
          </p:cNvSpPr>
          <p:nvPr/>
        </p:nvSpPr>
        <p:spPr>
          <a:xfrm>
            <a:off x="2076450" y="5619750"/>
            <a:ext cx="304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F2199DA-04E9-4545-8F67-C9E3249F9DDB}"/>
              </a:ext>
            </a:extLst>
          </p:cNvPr>
          <p:cNvSpPr>
            <a:spLocks noGrp="1"/>
          </p:cNvSpPr>
          <p:nvPr/>
        </p:nvSpPr>
        <p:spPr>
          <a:xfrm>
            <a:off x="590550" y="5581650"/>
            <a:ext cx="1466850" cy="304800"/>
          </a:xfrm>
          <a:prstGeom prst="roundRect">
            <a:avLst>
              <a:gd name="adj" fmla="val 25000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稳定复现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007CB9-DFCF-4300-A5BA-19458445277B}"/>
              </a:ext>
            </a:extLst>
          </p:cNvPr>
          <p:cNvSpPr>
            <a:spLocks noGrp="1"/>
          </p:cNvSpPr>
          <p:nvPr/>
        </p:nvSpPr>
        <p:spPr>
          <a:xfrm>
            <a:off x="3867150" y="5619750"/>
            <a:ext cx="304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818D916-618F-431E-9626-8F0BAA57A257}"/>
              </a:ext>
            </a:extLst>
          </p:cNvPr>
          <p:cNvSpPr>
            <a:spLocks noGrp="1"/>
          </p:cNvSpPr>
          <p:nvPr/>
        </p:nvSpPr>
        <p:spPr>
          <a:xfrm>
            <a:off x="2381250" y="5581650"/>
            <a:ext cx="1466850" cy="304800"/>
          </a:xfrm>
          <a:prstGeom prst="roundRect">
            <a:avLst>
              <a:gd name="adj" fmla="val 25000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通用根因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C83E62-F857-454F-AE4F-4A7B2221A28B}"/>
              </a:ext>
            </a:extLst>
          </p:cNvPr>
          <p:cNvSpPr>
            <a:spLocks noGrp="1"/>
          </p:cNvSpPr>
          <p:nvPr/>
        </p:nvSpPr>
        <p:spPr>
          <a:xfrm>
            <a:off x="5657850" y="5619750"/>
            <a:ext cx="304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EF03B66-8229-40F4-9E94-9FECAE39D1F6}"/>
              </a:ext>
            </a:extLst>
          </p:cNvPr>
          <p:cNvSpPr>
            <a:spLocks noGrp="1"/>
          </p:cNvSpPr>
          <p:nvPr/>
        </p:nvSpPr>
        <p:spPr>
          <a:xfrm>
            <a:off x="4171950" y="5581650"/>
            <a:ext cx="1466850" cy="304800"/>
          </a:xfrm>
          <a:prstGeom prst="roundRect">
            <a:avLst>
              <a:gd name="adj" fmla="val 25000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最小修复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844BF4-C8AF-4C67-8839-069F263CAF05}"/>
              </a:ext>
            </a:extLst>
          </p:cNvPr>
          <p:cNvSpPr>
            <a:spLocks noGrp="1"/>
          </p:cNvSpPr>
          <p:nvPr/>
        </p:nvSpPr>
        <p:spPr>
          <a:xfrm>
            <a:off x="7448550" y="5619750"/>
            <a:ext cx="304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2CD834D-F3A9-4624-9C9C-266EA398276B}"/>
              </a:ext>
            </a:extLst>
          </p:cNvPr>
          <p:cNvSpPr>
            <a:spLocks noGrp="1"/>
          </p:cNvSpPr>
          <p:nvPr/>
        </p:nvSpPr>
        <p:spPr>
          <a:xfrm>
            <a:off x="5962650" y="5581650"/>
            <a:ext cx="1466850" cy="304800"/>
          </a:xfrm>
          <a:prstGeom prst="roundRect">
            <a:avLst>
              <a:gd name="adj" fmla="val 25000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回归测试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0090E4-2605-4C7A-9E31-CD8862F606B9}"/>
              </a:ext>
            </a:extLst>
          </p:cNvPr>
          <p:cNvSpPr>
            <a:spLocks noGrp="1"/>
          </p:cNvSpPr>
          <p:nvPr/>
        </p:nvSpPr>
        <p:spPr>
          <a:xfrm>
            <a:off x="9239250" y="5619750"/>
            <a:ext cx="304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575404B-BE72-473B-BF69-F6DC232D5FA1}"/>
              </a:ext>
            </a:extLst>
          </p:cNvPr>
          <p:cNvSpPr>
            <a:spLocks noGrp="1"/>
          </p:cNvSpPr>
          <p:nvPr/>
        </p:nvSpPr>
        <p:spPr>
          <a:xfrm>
            <a:off x="7753350" y="5581650"/>
            <a:ext cx="1466850" cy="304800"/>
          </a:xfrm>
          <a:prstGeom prst="roundRect">
            <a:avLst>
              <a:gd name="adj" fmla="val 25000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全量 Gate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B31ED9A-FEEF-41AB-9D27-EAE8D0B6808A}"/>
              </a:ext>
            </a:extLst>
          </p:cNvPr>
          <p:cNvSpPr>
            <a:spLocks noGrp="1"/>
          </p:cNvSpPr>
          <p:nvPr/>
        </p:nvSpPr>
        <p:spPr>
          <a:xfrm>
            <a:off x="9544050" y="5581650"/>
            <a:ext cx="1466850" cy="304800"/>
          </a:xfrm>
          <a:prstGeom prst="roundRect">
            <a:avLst>
              <a:gd name="adj" fmla="val 25000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Release / Backlog</a:t>
            </a:r>
          </a:p>
        </p:txBody>
      </p:sp>
    </p:spTree>
    <p:extLst>
      <p:ext uri="{BB962C8B-B14F-4D97-AF65-F5344CB8AC3E}">
        <p14:creationId xmlns:p14="http://schemas.microsoft.com/office/powerpoint/2010/main" val="48447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F1D244E-E231-4984-B577-4E2F8483A4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15A8D-E975-4538-8E27-35457796A090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09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产品能力证明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C5179-D19C-47C0-BE3E-78381B7920C4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复杂性被系统吸收，用户仍然只需上传、提问、查看结果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71922A-8ECF-44DD-A624-C4B8D8FEAB59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真实业务工作簿、真实浏览器、真实产物与独立标准答案。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10C81A-54C3-4AA8-9A8A-117382FA923D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B00873-05FF-43DD-9B47-90F29E047C3E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C8F6B-2A5A-4F29-B727-CFB6462F2EF4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D1783B-A9D2-4855-AEC0-D12EB341538E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3276600" cy="4019550"/>
          </a:xfrm>
          <a:prstGeom prst="roundRect">
            <a:avLst>
              <a:gd name="adj" fmla="val 2326"/>
            </a:avLst>
          </a:prstGeom>
          <a:solidFill>
            <a:srgbClr val="24211F"/>
          </a:solidFill>
          <a:ln w="9525">
            <a:solidFill>
              <a:srgbClr val="242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19CA7E-C123-493D-81E2-5BA749E99B38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真实验收结果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184E87-9E34-475F-B2DC-17D7FFC5715A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DE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DED5"/>
                </a:solidFill>
                <a:latin typeface="PingFang SC"/>
                <a:ea typeface="PingFang SC"/>
                <a:cs typeface="PingFang SC"/>
              </a:rPr>
              <a:t>753.3 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5F30D3-ED41-441C-95D6-4E97860C5B1C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rPr>
              <a:t>杭州西湖店排名第一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F3E72F-65D5-4B7F-B4F5-E49087EB7F84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DE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DED5"/>
                </a:solidFill>
                <a:latin typeface="PingFang SC"/>
                <a:ea typeface="PingFang SC"/>
                <a:cs typeface="PingFang SC"/>
              </a:rPr>
              <a:t>5 家门店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0DBD7D-C144-4D6D-9B86-AC094C71BEFE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rPr>
              <a:t>完整排名与源表一致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D0DEF6-EADB-46C3-B8B7-7E52C48F4DFD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DE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DED5"/>
                </a:solidFill>
                <a:latin typeface="PingFang SC"/>
                <a:ea typeface="PingFang SC"/>
                <a:cs typeface="PingFang SC"/>
              </a:rPr>
              <a:t>3 类产物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C6E7BA-EB3A-4530-BC3A-C93BC141E456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rPr>
              <a:t>横向图 · CSV · Excel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B7FF0-393B-4561-A408-62D867BAB2BA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1C89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1C890"/>
                </a:solidFill>
                <a:latin typeface="PingFang SC"/>
                <a:ea typeface="PingFang SC"/>
                <a:cs typeface="PingFang SC"/>
              </a:rPr>
              <a:t>88.4 / 74.8 万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3509C-D628-48D6-8C72-861AD05E6389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9D0C7"/>
                </a:solidFill>
                <a:latin typeface="PingFang SC"/>
                <a:ea typeface="PingFang SC"/>
                <a:cs typeface="PingFang SC"/>
              </a:rPr>
              <a:t>追问计算前两名领先差值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A708715-37A2-4A1C-9ABA-F16E6D6C1F88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1428750" cy="266700"/>
          </a:xfrm>
          <a:prstGeom prst="roundRect">
            <a:avLst>
              <a:gd name="adj" fmla="val 28571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刷新后完整恢复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9CB57EC-8D50-411C-90B3-F302829EB605}"/>
              </a:ext>
            </a:extLst>
          </p:cNvPr>
          <p:cNvSpPr>
            <a:spLocks noGrp="1"/>
          </p:cNvSpPr>
          <p:nvPr/>
        </p:nvSpPr>
        <p:spPr>
          <a:xfrm>
            <a:off x="2343150" y="5219700"/>
            <a:ext cx="1333500" cy="266700"/>
          </a:xfrm>
          <a:prstGeom prst="roundRect">
            <a:avLst>
              <a:gd name="adj" fmla="val 28571"/>
            </a:avLst>
          </a:prstGeom>
          <a:solidFill>
            <a:srgbClr val="F1E7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技术细节默认收起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rcRect t="6718" b="6718"/>
          <a:stretch>
            <a:fillRect/>
          </a:stretch>
        </p:blipFill>
        <p:spPr>
          <a:xfrm>
            <a:off x="4171950" y="1752600"/>
            <a:ext cx="7429500" cy="401955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B33161E-055E-4EED-B363-99360592C639}"/>
              </a:ext>
            </a:extLst>
          </p:cNvPr>
          <p:cNvSpPr>
            <a:spLocks noGrp="1"/>
          </p:cNvSpPr>
          <p:nvPr/>
        </p:nvSpPr>
        <p:spPr>
          <a:xfrm>
            <a:off x="4171950" y="1752600"/>
            <a:ext cx="7429500" cy="4019550"/>
          </a:xfrm>
          <a:prstGeom prst="roundRect">
            <a:avLst>
              <a:gd name="adj" fmla="val 1896"/>
            </a:avLst>
          </a:prstGeom>
          <a:solidFill>
            <a:srgbClr val="000000">
              <a:alpha val="0"/>
            </a:srgbClr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rcRect t="1895" b="1895"/>
          <a:stretch>
            <a:fillRect/>
          </a:stretch>
        </p:blipFill>
        <p:spPr>
          <a:xfrm>
            <a:off x="8458200" y="3771900"/>
            <a:ext cx="2914650" cy="17526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858711-6100-47DA-85D2-66B540551966}"/>
              </a:ext>
            </a:extLst>
          </p:cNvPr>
          <p:cNvSpPr>
            <a:spLocks noGrp="1"/>
          </p:cNvSpPr>
          <p:nvPr/>
        </p:nvSpPr>
        <p:spPr>
          <a:xfrm>
            <a:off x="8458200" y="3771900"/>
            <a:ext cx="2914650" cy="1752600"/>
          </a:xfrm>
          <a:prstGeom prst="roundRect">
            <a:avLst>
              <a:gd name="adj" fmla="val 4348"/>
            </a:avLst>
          </a:prstGeom>
          <a:solidFill>
            <a:srgbClr val="000000">
              <a:alpha val="0"/>
            </a:srgbClr>
          </a:solidFill>
          <a:ln w="19050">
            <a:solidFill>
              <a:srgbClr val="A447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0310EC-B340-4E43-B1A1-4EE395B19E11}"/>
              </a:ext>
            </a:extLst>
          </p:cNvPr>
          <p:cNvSpPr>
            <a:spLocks noGrp="1"/>
          </p:cNvSpPr>
          <p:nvPr/>
        </p:nvSpPr>
        <p:spPr>
          <a:xfrm>
            <a:off x="4171950" y="5905500"/>
            <a:ext cx="742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源表独立核算，不由模型输出反推标准答案。</a:t>
            </a:r>
          </a:p>
        </p:txBody>
      </p:sp>
    </p:spTree>
    <p:extLst>
      <p:ext uri="{BB962C8B-B14F-4D97-AF65-F5344CB8AC3E}">
        <p14:creationId xmlns:p14="http://schemas.microsoft.com/office/powerpoint/2010/main" val="1810726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DC66E79-521E-490C-A917-AECB69C523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AE8EA-C95C-46B5-BDB2-756DF45BA24A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dirty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10 · </a:t>
            </a:r>
            <a:r>
              <a:rPr lang="en-US" sz="975" b="1" dirty="0" err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可迁移方法论</a:t>
            </a:r>
            <a:endParaRPr sz="975" b="1" dirty="0">
              <a:solidFill>
                <a:srgbClr val="A4472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03BFC6-389D-4EE6-A5DD-1E6F6CE906A8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这次项目形成了一套可迁移的工程建设方法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0884A1-23B6-429B-999B-69A69C1D6DC3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学到的不是某一个工具，而是如何管理复杂项目的交付质量。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B2AA00-1D54-4E93-B4C7-0A134038DC10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68C381-A723-4668-A442-2D49E688B898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10A735-0A8D-44A3-8EBE-88CBB628E79F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67DA3-662A-45E6-9FAC-60A57646D5BA}"/>
              </a:ext>
            </a:extLst>
          </p:cNvPr>
          <p:cNvSpPr>
            <a:spLocks noGrp="1"/>
          </p:cNvSpPr>
          <p:nvPr/>
        </p:nvSpPr>
        <p:spPr>
          <a:xfrm>
            <a:off x="1657350" y="251460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78E7D2-B64C-4AA3-9E74-A3E343FDC11B}"/>
              </a:ext>
            </a:extLst>
          </p:cNvPr>
          <p:cNvSpPr>
            <a:spLocks noGrp="1"/>
          </p:cNvSpPr>
          <p:nvPr/>
        </p:nvSpPr>
        <p:spPr>
          <a:xfrm>
            <a:off x="3190875" y="2352675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4CFE7E-C167-4CFB-94A3-E8E721932530}"/>
              </a:ext>
            </a:extLst>
          </p:cNvPr>
          <p:cNvSpPr>
            <a:spLocks noGrp="1"/>
          </p:cNvSpPr>
          <p:nvPr/>
        </p:nvSpPr>
        <p:spPr>
          <a:xfrm>
            <a:off x="4010025" y="3562350"/>
            <a:ext cx="457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E1331D-47B9-45C2-A395-F73000A32A08}"/>
              </a:ext>
            </a:extLst>
          </p:cNvPr>
          <p:cNvSpPr>
            <a:spLocks noGrp="1"/>
          </p:cNvSpPr>
          <p:nvPr/>
        </p:nvSpPr>
        <p:spPr>
          <a:xfrm>
            <a:off x="2524125" y="4762500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36309E-AE9A-4CFC-8CF5-FEF5EFC84550}"/>
              </a:ext>
            </a:extLst>
          </p:cNvPr>
          <p:cNvSpPr>
            <a:spLocks noGrp="1"/>
          </p:cNvSpPr>
          <p:nvPr/>
        </p:nvSpPr>
        <p:spPr>
          <a:xfrm>
            <a:off x="1181100" y="3857625"/>
            <a:ext cx="428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8CCB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F7C0A5-BFEC-4925-AA0A-B133DC30567C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1066800" cy="1066800"/>
          </a:xfrm>
          <a:prstGeom prst="ellipse">
            <a:avLst/>
          </a:prstGeom>
          <a:solidFill>
            <a:srgbClr val="F1DED5"/>
          </a:solidFill>
          <a:ln w="19050">
            <a:solidFill>
              <a:srgbClr val="A447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9C0CC1-5623-4604-A633-330439493FFB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拆分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9099B1-D8AC-4BCC-829B-6DDFF79429D5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模块/接口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A272A5-4A58-4566-A4EF-1027B55F2C57}"/>
              </a:ext>
            </a:extLst>
          </p:cNvPr>
          <p:cNvSpPr>
            <a:spLocks noGrp="1"/>
          </p:cNvSpPr>
          <p:nvPr/>
        </p:nvSpPr>
        <p:spPr>
          <a:xfrm>
            <a:off x="2419350" y="1790700"/>
            <a:ext cx="1066800" cy="1066800"/>
          </a:xfrm>
          <a:prstGeom prst="ellipse">
            <a:avLst/>
          </a:prstGeom>
          <a:solidFill>
            <a:srgbClr val="DFE7EE"/>
          </a:solidFill>
          <a:ln w="19050">
            <a:solidFill>
              <a:srgbClr val="314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D9932F-C1AC-40B2-BA0E-A4D7B8C96BDA}"/>
              </a:ext>
            </a:extLst>
          </p:cNvPr>
          <p:cNvSpPr>
            <a:spLocks noGrp="1"/>
          </p:cNvSpPr>
          <p:nvPr/>
        </p:nvSpPr>
        <p:spPr>
          <a:xfrm>
            <a:off x="2419350" y="207645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F45C6-0BA2-4BD5-9B72-47D5B5D930C0}"/>
              </a:ext>
            </a:extLst>
          </p:cNvPr>
          <p:cNvSpPr>
            <a:spLocks noGrp="1"/>
          </p:cNvSpPr>
          <p:nvPr/>
        </p:nvSpPr>
        <p:spPr>
          <a:xfrm>
            <a:off x="2419350" y="244792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状态/安全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18E84F-4C2D-42C9-8BB4-522CBBE07C4C}"/>
              </a:ext>
            </a:extLst>
          </p:cNvPr>
          <p:cNvSpPr>
            <a:spLocks noGrp="1"/>
          </p:cNvSpPr>
          <p:nvPr/>
        </p:nvSpPr>
        <p:spPr>
          <a:xfrm>
            <a:off x="3848100" y="2876550"/>
            <a:ext cx="1066800" cy="1066800"/>
          </a:xfrm>
          <a:prstGeom prst="ellipse">
            <a:avLst/>
          </a:prstGeom>
          <a:solidFill>
            <a:srgbClr val="F1E7CF"/>
          </a:solidFill>
          <a:ln w="19050">
            <a:solidFill>
              <a:srgbClr val="B88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E9E27F-1AB7-45DA-97D7-D4BD7F6C072A}"/>
              </a:ext>
            </a:extLst>
          </p:cNvPr>
          <p:cNvSpPr>
            <a:spLocks noGrp="1"/>
          </p:cNvSpPr>
          <p:nvPr/>
        </p:nvSpPr>
        <p:spPr>
          <a:xfrm>
            <a:off x="3848100" y="316230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Git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7D7262-8DB8-4962-9468-23D9F68BB987}"/>
              </a:ext>
            </a:extLst>
          </p:cNvPr>
          <p:cNvSpPr>
            <a:spLocks noGrp="1"/>
          </p:cNvSpPr>
          <p:nvPr/>
        </p:nvSpPr>
        <p:spPr>
          <a:xfrm>
            <a:off x="3848100" y="353377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分支/发布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D35401-A046-4A39-8EC5-006B329C5AF1}"/>
              </a:ext>
            </a:extLst>
          </p:cNvPr>
          <p:cNvSpPr>
            <a:spLocks noGrp="1"/>
          </p:cNvSpPr>
          <p:nvPr/>
        </p:nvSpPr>
        <p:spPr>
          <a:xfrm>
            <a:off x="3028950" y="4495800"/>
            <a:ext cx="1066800" cy="1066800"/>
          </a:xfrm>
          <a:prstGeom prst="ellipse">
            <a:avLst/>
          </a:prstGeom>
          <a:solidFill>
            <a:srgbClr val="DDEAE4"/>
          </a:solidFill>
          <a:ln w="19050">
            <a:solidFill>
              <a:srgbClr val="2F6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BD6F5D-7FDC-4845-9C2C-00DFF2077E0D}"/>
              </a:ext>
            </a:extLst>
          </p:cNvPr>
          <p:cNvSpPr>
            <a:spLocks noGrp="1"/>
          </p:cNvSpPr>
          <p:nvPr/>
        </p:nvSpPr>
        <p:spPr>
          <a:xfrm>
            <a:off x="3028950" y="478155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测试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80DAFA-B966-4207-AF06-03597D1C5F8A}"/>
              </a:ext>
            </a:extLst>
          </p:cNvPr>
          <p:cNvSpPr>
            <a:spLocks noGrp="1"/>
          </p:cNvSpPr>
          <p:nvPr/>
        </p:nvSpPr>
        <p:spPr>
          <a:xfrm>
            <a:off x="3028950" y="515302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风险/证据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DB7C27B-7FC7-4459-A24B-123E3974C076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1066800" cy="1066800"/>
          </a:xfrm>
          <a:prstGeom prst="ellipse">
            <a:avLst/>
          </a:prstGeom>
          <a:solidFill>
            <a:srgbClr val="F1DED5"/>
          </a:solidFill>
          <a:ln w="19050">
            <a:solidFill>
              <a:srgbClr val="A447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D72F17-5F6C-4E40-9F9D-9E5A07920A43}"/>
              </a:ext>
            </a:extLst>
          </p:cNvPr>
          <p:cNvSpPr>
            <a:spLocks noGrp="1"/>
          </p:cNvSpPr>
          <p:nvPr/>
        </p:nvSpPr>
        <p:spPr>
          <a:xfrm>
            <a:off x="1047750" y="468630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沉淀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C681E1-CC07-4DC9-8F0F-91D6B55DF0F5}"/>
              </a:ext>
            </a:extLst>
          </p:cNvPr>
          <p:cNvSpPr>
            <a:spLocks noGrp="1"/>
          </p:cNvSpPr>
          <p:nvPr/>
        </p:nvSpPr>
        <p:spPr>
          <a:xfrm>
            <a:off x="1047750" y="5057775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复盘/约束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0AE495-D2C0-4C96-9ED9-BC7FCE38D40A}"/>
              </a:ext>
            </a:extLst>
          </p:cNvPr>
          <p:cNvSpPr>
            <a:spLocks noGrp="1"/>
          </p:cNvSpPr>
          <p:nvPr/>
        </p:nvSpPr>
        <p:spPr>
          <a:xfrm>
            <a:off x="1476375" y="35433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ENGINEERING LOOP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149FB2F-B908-4F41-B1D7-4D3F902675A1}"/>
              </a:ext>
            </a:extLst>
          </p:cNvPr>
          <p:cNvSpPr>
            <a:spLocks noGrp="1"/>
          </p:cNvSpPr>
          <p:nvPr/>
        </p:nvSpPr>
        <p:spPr>
          <a:xfrm>
            <a:off x="5715000" y="1752600"/>
            <a:ext cx="5886450" cy="4000500"/>
          </a:xfrm>
          <a:prstGeom prst="roundRect">
            <a:avLst>
              <a:gd name="adj" fmla="val 1905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71D832-2C33-4FD3-9C08-A7E59BA81C0B}"/>
              </a:ext>
            </a:extLst>
          </p:cNvPr>
          <p:cNvSpPr>
            <a:spLocks noGrp="1"/>
          </p:cNvSpPr>
          <p:nvPr/>
        </p:nvSpPr>
        <p:spPr>
          <a:xfrm>
            <a:off x="6019800" y="2000250"/>
            <a:ext cx="4953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工程作品 ≠ Happy Path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4DA3C8E-EFB3-4158-A02E-86EF2602CFCD}"/>
              </a:ext>
            </a:extLst>
          </p:cNvPr>
          <p:cNvSpPr>
            <a:spLocks noGrp="1"/>
          </p:cNvSpPr>
          <p:nvPr/>
        </p:nvSpPr>
        <p:spPr>
          <a:xfrm>
            <a:off x="6019800" y="259080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E9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只展示功能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14EA42-AEE2-4ED3-9259-E71E85610067}"/>
              </a:ext>
            </a:extLst>
          </p:cNvPr>
          <p:cNvSpPr>
            <a:spLocks noGrp="1"/>
          </p:cNvSpPr>
          <p:nvPr/>
        </p:nvSpPr>
        <p:spPr>
          <a:xfrm>
            <a:off x="7772400" y="25908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D398B7D-FEA5-44AD-B95E-2BBF685C3E83}"/>
              </a:ext>
            </a:extLst>
          </p:cNvPr>
          <p:cNvSpPr>
            <a:spLocks noGrp="1"/>
          </p:cNvSpPr>
          <p:nvPr/>
        </p:nvSpPr>
        <p:spPr>
          <a:xfrm>
            <a:off x="8210550" y="2590800"/>
            <a:ext cx="3086100" cy="266700"/>
          </a:xfrm>
          <a:prstGeom prst="roundRect">
            <a:avLst>
              <a:gd name="adj" fmla="val 28571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同时建设错误处理与恢复机制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4E85A52-E0B3-43C2-95AD-5BB16DF50602}"/>
              </a:ext>
            </a:extLst>
          </p:cNvPr>
          <p:cNvSpPr>
            <a:spLocks noGrp="1"/>
          </p:cNvSpPr>
          <p:nvPr/>
        </p:nvSpPr>
        <p:spPr>
          <a:xfrm>
            <a:off x="6019800" y="327660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E9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只保留最终代码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CBA736-6DA2-4439-B75F-512D2973EAE8}"/>
              </a:ext>
            </a:extLst>
          </p:cNvPr>
          <p:cNvSpPr>
            <a:spLocks noGrp="1"/>
          </p:cNvSpPr>
          <p:nvPr/>
        </p:nvSpPr>
        <p:spPr>
          <a:xfrm>
            <a:off x="7772400" y="32766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A3291A3-1794-46F4-84DA-34E9CFE24FF0}"/>
              </a:ext>
            </a:extLst>
          </p:cNvPr>
          <p:cNvSpPr>
            <a:spLocks noGrp="1"/>
          </p:cNvSpPr>
          <p:nvPr/>
        </p:nvSpPr>
        <p:spPr>
          <a:xfrm>
            <a:off x="8210550" y="3276600"/>
            <a:ext cx="3086100" cy="266700"/>
          </a:xfrm>
          <a:prstGeom prst="roundRect">
            <a:avLst>
              <a:gd name="adj" fmla="val 28571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保留版本、PR 和决策历史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27BDB48-1CA4-437F-9A71-DCFE265D8EF4}"/>
              </a:ext>
            </a:extLst>
          </p:cNvPr>
          <p:cNvSpPr>
            <a:spLocks noGrp="1"/>
          </p:cNvSpPr>
          <p:nvPr/>
        </p:nvSpPr>
        <p:spPr>
          <a:xfrm>
            <a:off x="6019800" y="396240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E9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模型看起来正确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449071-CCDF-4355-A426-3AA28D917C10}"/>
              </a:ext>
            </a:extLst>
          </p:cNvPr>
          <p:cNvSpPr>
            <a:spLocks noGrp="1"/>
          </p:cNvSpPr>
          <p:nvPr/>
        </p:nvSpPr>
        <p:spPr>
          <a:xfrm>
            <a:off x="7772400" y="39624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5A7543C-B5C5-4679-BDEF-4473A58A23CE}"/>
              </a:ext>
            </a:extLst>
          </p:cNvPr>
          <p:cNvSpPr>
            <a:spLocks noGrp="1"/>
          </p:cNvSpPr>
          <p:nvPr/>
        </p:nvSpPr>
        <p:spPr>
          <a:xfrm>
            <a:off x="8210550" y="3962400"/>
            <a:ext cx="3086100" cy="266700"/>
          </a:xfrm>
          <a:prstGeom prst="roundRect">
            <a:avLst>
              <a:gd name="adj" fmla="val 28571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标准答案 + benchmark + 浏览器验收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90F31D5-CA8E-4D7F-B427-72C6B3D9B69B}"/>
              </a:ext>
            </a:extLst>
          </p:cNvPr>
          <p:cNvSpPr>
            <a:spLocks noGrp="1"/>
          </p:cNvSpPr>
          <p:nvPr/>
        </p:nvSpPr>
        <p:spPr>
          <a:xfrm>
            <a:off x="6019800" y="464820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E9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只面向自己使用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8A2727-41AE-4A5C-B4BD-895ADABC9FBD}"/>
              </a:ext>
            </a:extLst>
          </p:cNvPr>
          <p:cNvSpPr>
            <a:spLocks noGrp="1"/>
          </p:cNvSpPr>
          <p:nvPr/>
        </p:nvSpPr>
        <p:spPr>
          <a:xfrm>
            <a:off x="7772400" y="46482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B9F586D-1D04-4C5D-96EB-E480B99BF4FF}"/>
              </a:ext>
            </a:extLst>
          </p:cNvPr>
          <p:cNvSpPr>
            <a:spLocks noGrp="1"/>
          </p:cNvSpPr>
          <p:nvPr/>
        </p:nvSpPr>
        <p:spPr>
          <a:xfrm>
            <a:off x="8210550" y="4648200"/>
            <a:ext cx="3086100" cy="266700"/>
          </a:xfrm>
          <a:prstGeom prst="roundRect">
            <a:avLst>
              <a:gd name="adj" fmla="val 28571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面向维护、交付与未来生产化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040230-498C-40B7-A4DD-CC50B39CDB06}"/>
              </a:ext>
            </a:extLst>
          </p:cNvPr>
          <p:cNvSpPr>
            <a:spLocks noGrp="1"/>
          </p:cNvSpPr>
          <p:nvPr/>
        </p:nvSpPr>
        <p:spPr>
          <a:xfrm>
            <a:off x="6019800" y="5372100"/>
            <a:ext cx="527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体现：独立技术判断 · 系统性执行 · 质量意识 · 成熟工程沟通</a:t>
            </a:r>
          </a:p>
        </p:txBody>
      </p:sp>
    </p:spTree>
    <p:extLst>
      <p:ext uri="{BB962C8B-B14F-4D97-AF65-F5344CB8AC3E}">
        <p14:creationId xmlns:p14="http://schemas.microsoft.com/office/powerpoint/2010/main" val="45490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C8249A5-9A60-4D30-8AB4-7225EFA432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39251E-B03E-42FE-844A-58098712156F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11 · NEXT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3C3EFA-76A0-4639-9327-6DB74B0B2C10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下一步是自动化交付与运行保障，而不是重新搭建基础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CA3DE7-F20C-442A-9F4D-37053C9CF533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已有工程底座之上，继续补齐生产化所需能力。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40ADD3-A11D-44F9-B2B1-571BC935D352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5E26C-0E84-4EB2-A197-3AC04DE50EAF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3572FE-893C-4A44-B835-219297C0C8AE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08E26-EBC6-4ACC-B172-99327447C8B5}"/>
              </a:ext>
            </a:extLst>
          </p:cNvPr>
          <p:cNvSpPr>
            <a:spLocks noGrp="1"/>
          </p:cNvSpPr>
          <p:nvPr/>
        </p:nvSpPr>
        <p:spPr>
          <a:xfrm>
            <a:off x="828675" y="2076450"/>
            <a:ext cx="28575" cy="51435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E48D09-1140-4729-8B0F-9B471B3ECC4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42900" cy="3429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59417B-65FC-4EA4-8256-D7C2D581898E}"/>
              </a:ext>
            </a:extLst>
          </p:cNvPr>
          <p:cNvSpPr>
            <a:spLocks noGrp="1"/>
          </p:cNvSpPr>
          <p:nvPr/>
        </p:nvSpPr>
        <p:spPr>
          <a:xfrm>
            <a:off x="1238250" y="17526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自动化交付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4372FD-036C-4149-ADAC-4EBA0359D49B}"/>
              </a:ext>
            </a:extLst>
          </p:cNvPr>
          <p:cNvSpPr>
            <a:spLocks noGrp="1"/>
          </p:cNvSpPr>
          <p:nvPr/>
        </p:nvSpPr>
        <p:spPr>
          <a:xfrm>
            <a:off x="3048000" y="17716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GitHub Actions：pytest、build、preflight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0A634E-1205-45FE-BAF7-E67F522FD2A0}"/>
              </a:ext>
            </a:extLst>
          </p:cNvPr>
          <p:cNvSpPr>
            <a:spLocks noGrp="1"/>
          </p:cNvSpPr>
          <p:nvPr/>
        </p:nvSpPr>
        <p:spPr>
          <a:xfrm>
            <a:off x="828675" y="2857500"/>
            <a:ext cx="28575" cy="51435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A7717E-FED1-4193-B7EB-1DD0EC1C47E4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342900" cy="342900"/>
          </a:xfrm>
          <a:prstGeom prst="ellipse">
            <a:avLst/>
          </a:prstGeom>
          <a:solidFill>
            <a:srgbClr val="314E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F67FC-EEF1-463E-99F3-B88672DE9E10}"/>
              </a:ext>
            </a:extLst>
          </p:cNvPr>
          <p:cNvSpPr>
            <a:spLocks noGrp="1"/>
          </p:cNvSpPr>
          <p:nvPr/>
        </p:nvSpPr>
        <p:spPr>
          <a:xfrm>
            <a:off x="1238250" y="25336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运行可观测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F3EC4-86F5-4848-9436-9632D13CC3CD}"/>
              </a:ext>
            </a:extLst>
          </p:cNvPr>
          <p:cNvSpPr>
            <a:spLocks noGrp="1"/>
          </p:cNvSpPr>
          <p:nvPr/>
        </p:nvSpPr>
        <p:spPr>
          <a:xfrm>
            <a:off x="3048000" y="2552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结构化日志、指标、告警、持续运行监控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CA93D3-AB55-4F30-A15F-69EAE621C16B}"/>
              </a:ext>
            </a:extLst>
          </p:cNvPr>
          <p:cNvSpPr>
            <a:spLocks noGrp="1"/>
          </p:cNvSpPr>
          <p:nvPr/>
        </p:nvSpPr>
        <p:spPr>
          <a:xfrm>
            <a:off x="828675" y="3638550"/>
            <a:ext cx="28575" cy="51435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7EB978-E4A6-49D8-905A-5BA7DC1F73F0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342900" cy="342900"/>
          </a:xfrm>
          <a:prstGeom prst="ellipse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19A70-60AA-4ABA-B648-AA1BA05445D3}"/>
              </a:ext>
            </a:extLst>
          </p:cNvPr>
          <p:cNvSpPr>
            <a:spLocks noGrp="1"/>
          </p:cNvSpPr>
          <p:nvPr/>
        </p:nvSpPr>
        <p:spPr>
          <a:xfrm>
            <a:off x="1238250" y="33147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可靠性增强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588618-4B02-4CAD-9AB6-C34591308CA4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artifact 幂等、workspace GC、任务恢复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5776EC-CEDE-4322-8A20-D76D1C68C8D3}"/>
              </a:ext>
            </a:extLst>
          </p:cNvPr>
          <p:cNvSpPr>
            <a:spLocks noGrp="1"/>
          </p:cNvSpPr>
          <p:nvPr/>
        </p:nvSpPr>
        <p:spPr>
          <a:xfrm>
            <a:off x="828675" y="4419600"/>
            <a:ext cx="28575" cy="514350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442B98-97B4-4964-8D11-97FC82C5119C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42900" cy="342900"/>
          </a:xfrm>
          <a:prstGeom prst="ellipse">
            <a:avLst/>
          </a:prstGeom>
          <a:solidFill>
            <a:srgbClr val="2F6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F95E79-B169-4923-939F-FBC40C617063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企业边界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49AC82-8C96-44CA-B022-7B4AB0A3F29C}"/>
              </a:ext>
            </a:extLst>
          </p:cNvPr>
          <p:cNvSpPr>
            <a:spLocks noGrp="1"/>
          </p:cNvSpPr>
          <p:nvPr/>
        </p:nvSpPr>
        <p:spPr>
          <a:xfrm>
            <a:off x="3048000" y="41148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鉴权、多租户、审计、数据留存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C9B6A2-F077-48EB-A7B1-D2457CF469B4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342900" cy="34290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647FFB-458A-4DE8-9287-8F56123BA1DF}"/>
              </a:ext>
            </a:extLst>
          </p:cNvPr>
          <p:cNvSpPr>
            <a:spLocks noGrp="1"/>
          </p:cNvSpPr>
          <p:nvPr/>
        </p:nvSpPr>
        <p:spPr>
          <a:xfrm>
            <a:off x="1238250" y="48768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能力演进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251914-1B4B-4909-8F0A-6B789F21BB9C}"/>
              </a:ext>
            </a:extLst>
          </p:cNvPr>
          <p:cNvSpPr>
            <a:spLocks noGrp="1"/>
          </p:cNvSpPr>
          <p:nvPr/>
        </p:nvSpPr>
        <p:spPr>
          <a:xfrm>
            <a:off x="3048000" y="48958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复杂表格语义与 benchmark 表现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BC3D88A-15BB-4DF3-BCBE-153597C17252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4743450" cy="3905250"/>
          </a:xfrm>
          <a:prstGeom prst="roundRect">
            <a:avLst>
              <a:gd name="adj" fmla="val 1951"/>
            </a:avLst>
          </a:prstGeom>
          <a:solidFill>
            <a:srgbClr val="24211F"/>
          </a:solidFill>
          <a:ln w="9525">
            <a:solidFill>
              <a:srgbClr val="242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A62798-F889-4C4B-B732-884B152E4B58}"/>
              </a:ext>
            </a:extLst>
          </p:cNvPr>
          <p:cNvSpPr>
            <a:spLocks noGrp="1"/>
          </p:cNvSpPr>
          <p:nvPr/>
        </p:nvSpPr>
        <p:spPr>
          <a:xfrm>
            <a:off x="7162800" y="20764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BC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9BCAF"/>
                </a:solidFill>
                <a:latin typeface="PingFang SC"/>
                <a:ea typeface="PingFang SC"/>
                <a:cs typeface="PingFang SC"/>
              </a:rPr>
              <a:t>最终结论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1FE9-6A81-47F6-B6B6-07AFBD3A001B}"/>
              </a:ext>
            </a:extLst>
          </p:cNvPr>
          <p:cNvSpPr>
            <a:spLocks noGrp="1"/>
          </p:cNvSpPr>
          <p:nvPr/>
        </p:nvSpPr>
        <p:spPr>
          <a:xfrm>
            <a:off x="7124700" y="247650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125" b="0">
                <a:solidFill>
                  <a:srgbClr val="A4472F"/>
                </a:solidFill>
                <a:latin typeface="Songti SC"/>
                <a:ea typeface="Songti SC"/>
                <a:cs typeface="Songti SC"/>
              </a:defRPr>
            </a:pPr>
            <a:r>
              <a:rPr sz="4125" b="0">
                <a:solidFill>
                  <a:srgbClr val="A4472F"/>
                </a:solidFill>
                <a:latin typeface="Songti SC"/>
                <a:ea typeface="Songti SC"/>
                <a:cs typeface="Songti SC"/>
              </a:rPr>
              <a:t>“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21B6CB-F382-4D40-8E9C-5ACD34B8E0F9}"/>
              </a:ext>
            </a:extLst>
          </p:cNvPr>
          <p:cNvSpPr>
            <a:spLocks noGrp="1"/>
          </p:cNvSpPr>
          <p:nvPr/>
        </p:nvSpPr>
        <p:spPr>
          <a:xfrm>
            <a:off x="7562850" y="2628900"/>
            <a:ext cx="356235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这个项目证明，</a:t>
            </a:r>
          </a:p>
          <a:p>
            <a:pPr algn="l">
              <a:def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我不仅能实现一个 AI 功能，</a:t>
            </a:r>
          </a:p>
          <a:p>
            <a:pPr algn="l">
              <a:def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也能完成技术选型、架构设计、</a:t>
            </a:r>
          </a:p>
          <a:p>
            <a:pPr algn="l">
              <a:def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测试治理、版本管理和持续演进，</a:t>
            </a:r>
          </a:p>
          <a:p>
            <a:pPr algn="l">
              <a:def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把它建设成真正的工程产品。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FFC5C5-AEE9-49F2-9CCB-7ED86D45A4C5}"/>
              </a:ext>
            </a:extLst>
          </p:cNvPr>
          <p:cNvSpPr>
            <a:spLocks noGrp="1"/>
          </p:cNvSpPr>
          <p:nvPr/>
        </p:nvSpPr>
        <p:spPr>
          <a:xfrm>
            <a:off x="7562850" y="4953000"/>
            <a:ext cx="1143000" cy="38100"/>
          </a:xfrm>
          <a:prstGeom prst="rect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E8C4CF-B2A9-4552-A90E-88E2EE1F833D}"/>
              </a:ext>
            </a:extLst>
          </p:cNvPr>
          <p:cNvSpPr>
            <a:spLocks noGrp="1"/>
          </p:cNvSpPr>
          <p:nvPr/>
        </p:nvSpPr>
        <p:spPr>
          <a:xfrm>
            <a:off x="7562850" y="51625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CA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C9BCAF"/>
                </a:solidFill>
                <a:latin typeface="Menlo"/>
                <a:ea typeface="Menlo"/>
                <a:cs typeface="Menlo"/>
              </a:rPr>
              <a:t>ChatExcel v0.9 Max · 0.9.2 MVP</a:t>
            </a:r>
          </a:p>
        </p:txBody>
      </p:sp>
    </p:spTree>
    <p:extLst>
      <p:ext uri="{BB962C8B-B14F-4D97-AF65-F5344CB8AC3E}">
        <p14:creationId xmlns:p14="http://schemas.microsoft.com/office/powerpoint/2010/main" val="1629000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06D34B36-BB22-40A3-82A0-E52FEBAD63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7D6093-F73E-4B37-8435-71173DB711C0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A2335-5C0C-4A90-8ED8-1CAF36826D1C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附录 A｜测试资产与覆盖地图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78461-149A-4F21-BF44-BE22329C85B5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299 项测试覆盖从 Excel 数据结构到真实用户旅程；不同层解决不同风险。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15838-68F6-4012-9B50-82213057333C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253B-952C-4300-BE01-B6D5BC3186D8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38A2D9-3BB6-40BF-B196-EC89AB34A67D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A1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D4895-61ED-4E00-A85D-D6858D058976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1428750" cy="438150"/>
          </a:xfrm>
          <a:prstGeom prst="rect">
            <a:avLst/>
          </a:prstGeom>
          <a:solidFill>
            <a:srgbClr val="24211F"/>
          </a:solidFill>
          <a:ln w="9525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D5D6ED-D2C2-40BC-BD54-6FFBE6A66C1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层级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B7227-4A63-4442-BB49-9F250B2AA60A}"/>
              </a:ext>
            </a:extLst>
          </p:cNvPr>
          <p:cNvSpPr>
            <a:spLocks noGrp="1"/>
          </p:cNvSpPr>
          <p:nvPr/>
        </p:nvSpPr>
        <p:spPr>
          <a:xfrm>
            <a:off x="2019300" y="1790700"/>
            <a:ext cx="3333750" cy="438150"/>
          </a:xfrm>
          <a:prstGeom prst="rect">
            <a:avLst/>
          </a:prstGeom>
          <a:solidFill>
            <a:srgbClr val="24211F"/>
          </a:solidFill>
          <a:ln w="9525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63CAA-1AFC-4186-BEF0-EAEDFE6721A6}"/>
              </a:ext>
            </a:extLst>
          </p:cNvPr>
          <p:cNvSpPr>
            <a:spLocks noGrp="1"/>
          </p:cNvSpPr>
          <p:nvPr/>
        </p:nvSpPr>
        <p:spPr>
          <a:xfrm>
            <a:off x="2114550" y="188595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代表测试资产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B6CFC1-55D0-4018-9B49-E22B457E51AE}"/>
              </a:ext>
            </a:extLst>
          </p:cNvPr>
          <p:cNvSpPr>
            <a:spLocks noGrp="1"/>
          </p:cNvSpPr>
          <p:nvPr/>
        </p:nvSpPr>
        <p:spPr>
          <a:xfrm>
            <a:off x="5353050" y="1790700"/>
            <a:ext cx="3238500" cy="438150"/>
          </a:xfrm>
          <a:prstGeom prst="rect">
            <a:avLst/>
          </a:prstGeom>
          <a:solidFill>
            <a:srgbClr val="24211F"/>
          </a:solidFill>
          <a:ln w="9525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CED52F-084D-4B1E-9027-147831F21A5D}"/>
              </a:ext>
            </a:extLst>
          </p:cNvPr>
          <p:cNvSpPr>
            <a:spLocks noGrp="1"/>
          </p:cNvSpPr>
          <p:nvPr/>
        </p:nvSpPr>
        <p:spPr>
          <a:xfrm>
            <a:off x="5448300" y="188595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主要风险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688127-6CE6-4AB7-874F-2ABA986D4111}"/>
              </a:ext>
            </a:extLst>
          </p:cNvPr>
          <p:cNvSpPr>
            <a:spLocks noGrp="1"/>
          </p:cNvSpPr>
          <p:nvPr/>
        </p:nvSpPr>
        <p:spPr>
          <a:xfrm>
            <a:off x="8591550" y="1790700"/>
            <a:ext cx="3009900" cy="438150"/>
          </a:xfrm>
          <a:prstGeom prst="rect">
            <a:avLst/>
          </a:prstGeom>
          <a:solidFill>
            <a:srgbClr val="24211F"/>
          </a:solidFill>
          <a:ln w="9525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2042D7-8830-4F02-97C8-ABA278FD2551}"/>
              </a:ext>
            </a:extLst>
          </p:cNvPr>
          <p:cNvSpPr>
            <a:spLocks noGrp="1"/>
          </p:cNvSpPr>
          <p:nvPr/>
        </p:nvSpPr>
        <p:spPr>
          <a:xfrm>
            <a:off x="8686800" y="188595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验收证据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2AF08E-5295-41A7-93C5-E6FCDCA9330D}"/>
              </a:ext>
            </a:extLst>
          </p:cNvPr>
          <p:cNvSpPr>
            <a:spLocks noGrp="1"/>
          </p:cNvSpPr>
          <p:nvPr/>
        </p:nvSpPr>
        <p:spPr>
          <a:xfrm>
            <a:off x="590550" y="2228850"/>
            <a:ext cx="142875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951B46-2AC6-40C9-8891-6E8FB262671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238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数据层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98919-1CA9-463A-88EC-3171AE5E7538}"/>
              </a:ext>
            </a:extLst>
          </p:cNvPr>
          <p:cNvSpPr>
            <a:spLocks noGrp="1"/>
          </p:cNvSpPr>
          <p:nvPr/>
        </p:nvSpPr>
        <p:spPr>
          <a:xfrm>
            <a:off x="2019300" y="2228850"/>
            <a:ext cx="333375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33BAC5-C02B-46BD-B175-A62B812D98FF}"/>
              </a:ext>
            </a:extLst>
          </p:cNvPr>
          <p:cNvSpPr>
            <a:spLocks noGrp="1"/>
          </p:cNvSpPr>
          <p:nvPr/>
        </p:nvSpPr>
        <p:spPr>
          <a:xfrm>
            <a:off x="2114550" y="2324100"/>
            <a:ext cx="3143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workbook_ingestor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excel_preprocessor · profiler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843650-8420-4256-8CBA-2C4FE9EF9B36}"/>
              </a:ext>
            </a:extLst>
          </p:cNvPr>
          <p:cNvSpPr>
            <a:spLocks noGrp="1"/>
          </p:cNvSpPr>
          <p:nvPr/>
        </p:nvSpPr>
        <p:spPr>
          <a:xfrm>
            <a:off x="5353050" y="2228850"/>
            <a:ext cx="323850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118946-7832-4564-A7C7-5592867B2CA7}"/>
              </a:ext>
            </a:extLst>
          </p:cNvPr>
          <p:cNvSpPr>
            <a:spLocks noGrp="1"/>
          </p:cNvSpPr>
          <p:nvPr/>
        </p:nvSpPr>
        <p:spPr>
          <a:xfrm>
            <a:off x="5448300" y="2324100"/>
            <a:ext cx="30480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复杂表头、重复列、公式、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行组与工作簿读取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689753-DB81-48BF-86F7-505F4118E553}"/>
              </a:ext>
            </a:extLst>
          </p:cNvPr>
          <p:cNvSpPr>
            <a:spLocks noGrp="1"/>
          </p:cNvSpPr>
          <p:nvPr/>
        </p:nvSpPr>
        <p:spPr>
          <a:xfrm>
            <a:off x="8591550" y="2228850"/>
            <a:ext cx="300990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D1788C-DA71-4566-9D4F-62570BDA7EB9}"/>
              </a:ext>
            </a:extLst>
          </p:cNvPr>
          <p:cNvSpPr>
            <a:spLocks noGrp="1"/>
          </p:cNvSpPr>
          <p:nvPr/>
        </p:nvSpPr>
        <p:spPr>
          <a:xfrm>
            <a:off x="8686800" y="2324100"/>
            <a:ext cx="28194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Python regression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9857D-5B98-4CEF-AB71-34F0AF100146}"/>
              </a:ext>
            </a:extLst>
          </p:cNvPr>
          <p:cNvSpPr>
            <a:spLocks noGrp="1"/>
          </p:cNvSpPr>
          <p:nvPr/>
        </p:nvSpPr>
        <p:spPr>
          <a:xfrm>
            <a:off x="590550" y="2828925"/>
            <a:ext cx="142875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E487EF-6E5D-4225-9A85-E3163BF8A0AC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1238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Agent 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7E86AD-17D2-4C7C-9FC5-3B1F4B2210AF}"/>
              </a:ext>
            </a:extLst>
          </p:cNvPr>
          <p:cNvSpPr>
            <a:spLocks noGrp="1"/>
          </p:cNvSpPr>
          <p:nvPr/>
        </p:nvSpPr>
        <p:spPr>
          <a:xfrm>
            <a:off x="2019300" y="2828925"/>
            <a:ext cx="333375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F9568A-E2AE-4212-AB70-462640334532}"/>
              </a:ext>
            </a:extLst>
          </p:cNvPr>
          <p:cNvSpPr>
            <a:spLocks noGrp="1"/>
          </p:cNvSpPr>
          <p:nvPr/>
        </p:nvSpPr>
        <p:spPr>
          <a:xfrm>
            <a:off x="2114550" y="2924175"/>
            <a:ext cx="3143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orchestrator · plan · result_checker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reporter · runtime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34EB98-301C-49C5-9DA3-A9738BC80765}"/>
              </a:ext>
            </a:extLst>
          </p:cNvPr>
          <p:cNvSpPr>
            <a:spLocks noGrp="1"/>
          </p:cNvSpPr>
          <p:nvPr/>
        </p:nvSpPr>
        <p:spPr>
          <a:xfrm>
            <a:off x="5353050" y="2828925"/>
            <a:ext cx="323850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1F03F6-F8A4-4881-8E4D-95E0139F76C4}"/>
              </a:ext>
            </a:extLst>
          </p:cNvPr>
          <p:cNvSpPr>
            <a:spLocks noGrp="1"/>
          </p:cNvSpPr>
          <p:nvPr/>
        </p:nvSpPr>
        <p:spPr>
          <a:xfrm>
            <a:off x="5448300" y="2924175"/>
            <a:ext cx="30480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规划、执行、数字一致性、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工具与上下文约束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943260-3D49-4789-B05A-1C02012E66F0}"/>
              </a:ext>
            </a:extLst>
          </p:cNvPr>
          <p:cNvSpPr>
            <a:spLocks noGrp="1"/>
          </p:cNvSpPr>
          <p:nvPr/>
        </p:nvSpPr>
        <p:spPr>
          <a:xfrm>
            <a:off x="8591550" y="2828925"/>
            <a:ext cx="300990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BC9262-6F97-4E28-A0BD-3667F2EF154F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8194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Unit + 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9DB97F-3657-40C4-A21E-05BFCBF16CDA}"/>
              </a:ext>
            </a:extLst>
          </p:cNvPr>
          <p:cNvSpPr>
            <a:spLocks noGrp="1"/>
          </p:cNvSpPr>
          <p:nvPr/>
        </p:nvSpPr>
        <p:spPr>
          <a:xfrm>
            <a:off x="590550" y="3429000"/>
            <a:ext cx="142875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F3E6E7-36AF-400D-B9FD-99D267F88D20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238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14E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4E6E"/>
                </a:solidFill>
                <a:latin typeface="PingFang SC"/>
                <a:ea typeface="PingFang SC"/>
                <a:cs typeface="PingFang SC"/>
              </a:rPr>
              <a:t>服务层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C1819F-1783-4C76-B987-F4F09B2E1836}"/>
              </a:ext>
            </a:extLst>
          </p:cNvPr>
          <p:cNvSpPr>
            <a:spLocks noGrp="1"/>
          </p:cNvSpPr>
          <p:nvPr/>
        </p:nvSpPr>
        <p:spPr>
          <a:xfrm>
            <a:off x="2019300" y="3429000"/>
            <a:ext cx="333375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D6189E-AFF6-42B8-8078-C6D8FFB3F28B}"/>
              </a:ext>
            </a:extLst>
          </p:cNvPr>
          <p:cNvSpPr>
            <a:spLocks noGrp="1"/>
          </p:cNvSpPr>
          <p:nvPr/>
        </p:nvSpPr>
        <p:spPr>
          <a:xfrm>
            <a:off x="2114550" y="3524250"/>
            <a:ext cx="3143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api_server · api_runs · ws_manager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session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2BCB5A-C6FB-415D-B64C-B7CC1EED6166}"/>
              </a:ext>
            </a:extLst>
          </p:cNvPr>
          <p:cNvSpPr>
            <a:spLocks noGrp="1"/>
          </p:cNvSpPr>
          <p:nvPr/>
        </p:nvSpPr>
        <p:spPr>
          <a:xfrm>
            <a:off x="5353050" y="3429000"/>
            <a:ext cx="323850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7AA140-5FBE-4CFD-AB63-C113D0DC4FF6}"/>
              </a:ext>
            </a:extLst>
          </p:cNvPr>
          <p:cNvSpPr>
            <a:spLocks noGrp="1"/>
          </p:cNvSpPr>
          <p:nvPr/>
        </p:nvSpPr>
        <p:spPr>
          <a:xfrm>
            <a:off x="5448300" y="3524250"/>
            <a:ext cx="30480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REST/WS、终态、取消、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并发、会话删除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4C5C66-6031-425D-AD25-C5FBEBD7E13B}"/>
              </a:ext>
            </a:extLst>
          </p:cNvPr>
          <p:cNvSpPr>
            <a:spLocks noGrp="1"/>
          </p:cNvSpPr>
          <p:nvPr/>
        </p:nvSpPr>
        <p:spPr>
          <a:xfrm>
            <a:off x="8591550" y="3429000"/>
            <a:ext cx="300990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D10B07-7647-4677-B178-2B445F6B466E}"/>
              </a:ext>
            </a:extLst>
          </p:cNvPr>
          <p:cNvSpPr>
            <a:spLocks noGrp="1"/>
          </p:cNvSpPr>
          <p:nvPr/>
        </p:nvSpPr>
        <p:spPr>
          <a:xfrm>
            <a:off x="8686800" y="3524250"/>
            <a:ext cx="28194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API + lifecycle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9DFB06-7F41-4BEF-8AFB-BCBCEB921C4D}"/>
              </a:ext>
            </a:extLst>
          </p:cNvPr>
          <p:cNvSpPr>
            <a:spLocks noGrp="1"/>
          </p:cNvSpPr>
          <p:nvPr/>
        </p:nvSpPr>
        <p:spPr>
          <a:xfrm>
            <a:off x="590550" y="4029075"/>
            <a:ext cx="142875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A1E39A-3F9B-43F6-B9B1-7C195E99E9C9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238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32C2CB-C293-40F8-AF23-7701C34C96B9}"/>
              </a:ext>
            </a:extLst>
          </p:cNvPr>
          <p:cNvSpPr>
            <a:spLocks noGrp="1"/>
          </p:cNvSpPr>
          <p:nvPr/>
        </p:nvSpPr>
        <p:spPr>
          <a:xfrm>
            <a:off x="2019300" y="4029075"/>
            <a:ext cx="333375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58E80B-B98E-45F2-B787-9A744CDF7840}"/>
              </a:ext>
            </a:extLst>
          </p:cNvPr>
          <p:cNvSpPr>
            <a:spLocks noGrp="1"/>
          </p:cNvSpPr>
          <p:nvPr/>
        </p:nvSpPr>
        <p:spPr>
          <a:xfrm>
            <a:off x="2114550" y="4124325"/>
            <a:ext cx="3143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workspace · sandbox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artifact_utils · api_uploads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3E877F-EDBE-46B4-8E74-EB3EF345D92C}"/>
              </a:ext>
            </a:extLst>
          </p:cNvPr>
          <p:cNvSpPr>
            <a:spLocks noGrp="1"/>
          </p:cNvSpPr>
          <p:nvPr/>
        </p:nvSpPr>
        <p:spPr>
          <a:xfrm>
            <a:off x="5353050" y="4029075"/>
            <a:ext cx="323850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E59D56-FC62-4FE2-80D5-ECEF97871DA1}"/>
              </a:ext>
            </a:extLst>
          </p:cNvPr>
          <p:cNvSpPr>
            <a:spLocks noGrp="1"/>
          </p:cNvSpPr>
          <p:nvPr/>
        </p:nvSpPr>
        <p:spPr>
          <a:xfrm>
            <a:off x="5448300" y="4124325"/>
            <a:ext cx="30480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路径穿越、越权写入、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上传与产物隔离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7859DA-A8F3-4E38-9FDB-32EFE812EAD8}"/>
              </a:ext>
            </a:extLst>
          </p:cNvPr>
          <p:cNvSpPr>
            <a:spLocks noGrp="1"/>
          </p:cNvSpPr>
          <p:nvPr/>
        </p:nvSpPr>
        <p:spPr>
          <a:xfrm>
            <a:off x="8591550" y="4029075"/>
            <a:ext cx="300990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5B595D2-1F67-4BF0-B0D6-8DFB2A3CC451}"/>
              </a:ext>
            </a:extLst>
          </p:cNvPr>
          <p:cNvSpPr>
            <a:spLocks noGrp="1"/>
          </p:cNvSpPr>
          <p:nvPr/>
        </p:nvSpPr>
        <p:spPr>
          <a:xfrm>
            <a:off x="8686800" y="4124325"/>
            <a:ext cx="28194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Security regression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3F9128-97D8-4578-875B-3DB0AEC1EF35}"/>
              </a:ext>
            </a:extLst>
          </p:cNvPr>
          <p:cNvSpPr>
            <a:spLocks noGrp="1"/>
          </p:cNvSpPr>
          <p:nvPr/>
        </p:nvSpPr>
        <p:spPr>
          <a:xfrm>
            <a:off x="590550" y="4629150"/>
            <a:ext cx="142875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684E85-C45D-4212-AA56-5E5CAC2DE18A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1238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E2E / 评测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DE90DB-6306-4535-999F-1A861026B1AB}"/>
              </a:ext>
            </a:extLst>
          </p:cNvPr>
          <p:cNvSpPr>
            <a:spLocks noGrp="1"/>
          </p:cNvSpPr>
          <p:nvPr/>
        </p:nvSpPr>
        <p:spPr>
          <a:xfrm>
            <a:off x="2019300" y="4629150"/>
            <a:ext cx="333375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841D34-4387-4BF1-A2F1-B96B8FA8A6FE}"/>
              </a:ext>
            </a:extLst>
          </p:cNvPr>
          <p:cNvSpPr>
            <a:spLocks noGrp="1"/>
          </p:cNvSpPr>
          <p:nvPr/>
        </p:nvSpPr>
        <p:spPr>
          <a:xfrm>
            <a:off x="2114550" y="4724400"/>
            <a:ext cx="3143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e2e_regression · benchmark_data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workbook_compare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389023-A2C9-4969-99C1-7E73E929F88A}"/>
              </a:ext>
            </a:extLst>
          </p:cNvPr>
          <p:cNvSpPr>
            <a:spLocks noGrp="1"/>
          </p:cNvSpPr>
          <p:nvPr/>
        </p:nvSpPr>
        <p:spPr>
          <a:xfrm>
            <a:off x="5353050" y="4629150"/>
            <a:ext cx="323850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71BF2E-3342-42E5-8718-845FC0BFBAF5}"/>
              </a:ext>
            </a:extLst>
          </p:cNvPr>
          <p:cNvSpPr>
            <a:spLocks noGrp="1"/>
          </p:cNvSpPr>
          <p:nvPr/>
        </p:nvSpPr>
        <p:spPr>
          <a:xfrm>
            <a:off x="5448300" y="4724400"/>
            <a:ext cx="30480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真实用户链路、复杂表格、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独立标准答案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202680D-6128-4786-8232-1EB05850AB7E}"/>
              </a:ext>
            </a:extLst>
          </p:cNvPr>
          <p:cNvSpPr>
            <a:spLocks noGrp="1"/>
          </p:cNvSpPr>
          <p:nvPr/>
        </p:nvSpPr>
        <p:spPr>
          <a:xfrm>
            <a:off x="8591550" y="4629150"/>
            <a:ext cx="3009900" cy="600075"/>
          </a:xfrm>
          <a:prstGeom prst="rect">
            <a:avLst/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981B7EC-B3E0-4403-B927-D720DC590691}"/>
              </a:ext>
            </a:extLst>
          </p:cNvPr>
          <p:cNvSpPr>
            <a:spLocks noGrp="1"/>
          </p:cNvSpPr>
          <p:nvPr/>
        </p:nvSpPr>
        <p:spPr>
          <a:xfrm>
            <a:off x="8686800" y="4724400"/>
            <a:ext cx="28194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2× browser · 21 cases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2226494-32EB-4242-8E5D-553E65712FD2}"/>
              </a:ext>
            </a:extLst>
          </p:cNvPr>
          <p:cNvSpPr>
            <a:spLocks noGrp="1"/>
          </p:cNvSpPr>
          <p:nvPr/>
        </p:nvSpPr>
        <p:spPr>
          <a:xfrm>
            <a:off x="590550" y="5229225"/>
            <a:ext cx="142875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6602AC-7E49-45A4-8AD7-B085A6DB4791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238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演示发布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AE6719-8A58-4F2F-BCB2-23591C30A3B8}"/>
              </a:ext>
            </a:extLst>
          </p:cNvPr>
          <p:cNvSpPr>
            <a:spLocks noGrp="1"/>
          </p:cNvSpPr>
          <p:nvPr/>
        </p:nvSpPr>
        <p:spPr>
          <a:xfrm>
            <a:off x="2019300" y="5229225"/>
            <a:ext cx="333375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AA0EA99-F6CB-4A1F-B50D-E9E62F96DF30}"/>
              </a:ext>
            </a:extLst>
          </p:cNvPr>
          <p:cNvSpPr>
            <a:spLocks noGrp="1"/>
          </p:cNvSpPr>
          <p:nvPr/>
        </p:nvSpPr>
        <p:spPr>
          <a:xfrm>
            <a:off x="2114550" y="5324475"/>
            <a:ext cx="3143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demo_preflight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E6B442-09FD-4C16-9C04-207C679CD2E2}"/>
              </a:ext>
            </a:extLst>
          </p:cNvPr>
          <p:cNvSpPr>
            <a:spLocks noGrp="1"/>
          </p:cNvSpPr>
          <p:nvPr/>
        </p:nvSpPr>
        <p:spPr>
          <a:xfrm>
            <a:off x="5353050" y="5229225"/>
            <a:ext cx="323850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8805174-959A-49C3-A1F5-D0BBAB6D4C62}"/>
              </a:ext>
            </a:extLst>
          </p:cNvPr>
          <p:cNvSpPr>
            <a:spLocks noGrp="1"/>
          </p:cNvSpPr>
          <p:nvPr/>
        </p:nvSpPr>
        <p:spPr>
          <a:xfrm>
            <a:off x="5448300" y="5324475"/>
            <a:ext cx="30480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版本口径、依赖、工作簿、</a:t>
            </a:r>
          </a:p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LLM/Pi 防线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4F741A0-D2FB-4C3E-BCEF-514C29130B9D}"/>
              </a:ext>
            </a:extLst>
          </p:cNvPr>
          <p:cNvSpPr>
            <a:spLocks noGrp="1"/>
          </p:cNvSpPr>
          <p:nvPr/>
        </p:nvSpPr>
        <p:spPr>
          <a:xfrm>
            <a:off x="8591550" y="5229225"/>
            <a:ext cx="3009900" cy="600075"/>
          </a:xfrm>
          <a:prstGeom prst="rect">
            <a:avLst/>
          </a:prstGeom>
          <a:solidFill>
            <a:srgbClr val="F3EEE7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074FEB-6750-4C63-BF85-B552FBEC5D10}"/>
              </a:ext>
            </a:extLst>
          </p:cNvPr>
          <p:cNvSpPr>
            <a:spLocks noGrp="1"/>
          </p:cNvSpPr>
          <p:nvPr/>
        </p:nvSpPr>
        <p:spPr>
          <a:xfrm>
            <a:off x="8686800" y="5324475"/>
            <a:ext cx="28194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10/10 preflight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5CD7640-861A-42CE-AB47-B7AB4D87547A}"/>
              </a:ext>
            </a:extLst>
          </p:cNvPr>
          <p:cNvSpPr>
            <a:spLocks noGrp="1"/>
          </p:cNvSpPr>
          <p:nvPr/>
        </p:nvSpPr>
        <p:spPr>
          <a:xfrm>
            <a:off x="590550" y="5981700"/>
            <a:ext cx="2571750" cy="285750"/>
          </a:xfrm>
          <a:prstGeom prst="roundRect">
            <a:avLst>
              <a:gd name="adj" fmla="val 26667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299/299  自动化回归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B9BCF7F-4FDA-4CC8-AADD-CC3E2B1891D7}"/>
              </a:ext>
            </a:extLst>
          </p:cNvPr>
          <p:cNvSpPr>
            <a:spLocks noGrp="1"/>
          </p:cNvSpPr>
          <p:nvPr/>
        </p:nvSpPr>
        <p:spPr>
          <a:xfrm>
            <a:off x="3333750" y="5981700"/>
            <a:ext cx="2571750" cy="285750"/>
          </a:xfrm>
          <a:prstGeom prst="roundRect">
            <a:avLst>
              <a:gd name="adj" fmla="val 26667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15/21  SheetBench 答案正确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6D2D3A8-645A-473A-AB45-382F7ECC9BBB}"/>
              </a:ext>
            </a:extLst>
          </p:cNvPr>
          <p:cNvSpPr>
            <a:spLocks noGrp="1"/>
          </p:cNvSpPr>
          <p:nvPr/>
        </p:nvSpPr>
        <p:spPr>
          <a:xfrm>
            <a:off x="6076950" y="5981700"/>
            <a:ext cx="2571750" cy="285750"/>
          </a:xfrm>
          <a:prstGeom prst="roundRect">
            <a:avLst>
              <a:gd name="adj" fmla="val 26667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21/21  稳定收口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CAE46BE-1D0C-45DA-81C1-CA87B7E5467A}"/>
              </a:ext>
            </a:extLst>
          </p:cNvPr>
          <p:cNvSpPr>
            <a:spLocks noGrp="1"/>
          </p:cNvSpPr>
          <p:nvPr/>
        </p:nvSpPr>
        <p:spPr>
          <a:xfrm>
            <a:off x="8820150" y="5981700"/>
            <a:ext cx="2571750" cy="285750"/>
          </a:xfrm>
          <a:prstGeom prst="roundRect">
            <a:avLst>
              <a:gd name="adj" fmla="val 26667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00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0  Unhandled exception</a:t>
            </a:r>
          </a:p>
        </p:txBody>
      </p:sp>
    </p:spTree>
    <p:extLst>
      <p:ext uri="{BB962C8B-B14F-4D97-AF65-F5344CB8AC3E}">
        <p14:creationId xmlns:p14="http://schemas.microsoft.com/office/powerpoint/2010/main" val="1585837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443EE1F-D95E-4933-B00C-342BB2A3A8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E0CBA-D707-49F9-854B-331F9336C66C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A8A8A9-A7D7-4DE9-824B-001E317A527A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1095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附录 B｜Git、PR 与 release 证据链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FE23C4-16E2-4BF5-8DAD-04FE8AE391EF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10715625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从需求分支到发布文档，每次变化都有可回溯的落点。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DA07A0-3631-4E2C-BB8A-56A969E5D49C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1010900" cy="95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F05F33-D0F4-4EA2-84E3-CA895C905BD5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2857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6258"/>
                </a:solidFill>
                <a:latin typeface="PingFang SC"/>
                <a:ea typeface="PingFang SC"/>
                <a:cs typeface="PingFang SC"/>
              </a:rPr>
              <a:t>ChatExcel v0.9 Max · 0.9.2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290A8-B820-43F3-9BFE-5161422C1238}"/>
              </a:ext>
            </a:extLst>
          </p:cNvPr>
          <p:cNvSpPr>
            <a:spLocks noGrp="1"/>
          </p:cNvSpPr>
          <p:nvPr/>
        </p:nvSpPr>
        <p:spPr>
          <a:xfrm>
            <a:off x="111252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A2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3E70AB-233E-404E-A813-5AF82A46162A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PR MERGE TIMELINE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5FF59A-2B58-42BD-87A7-4982EB9E7644}"/>
              </a:ext>
            </a:extLst>
          </p:cNvPr>
          <p:cNvSpPr>
            <a:spLocks noGrp="1"/>
          </p:cNvSpPr>
          <p:nvPr/>
        </p:nvSpPr>
        <p:spPr>
          <a:xfrm>
            <a:off x="1009650" y="2409825"/>
            <a:ext cx="9525000" cy="47625"/>
          </a:xfrm>
          <a:prstGeom prst="rect">
            <a:avLst/>
          </a:prstGeom>
          <a:solidFill>
            <a:srgbClr val="D8CC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767061-A149-4955-8950-917A4164A327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00050" cy="400050"/>
          </a:xfrm>
          <a:prstGeom prst="ellipse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#1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E2D8D0-27F7-4F7A-8AA5-C188EC7B04F1}"/>
              </a:ext>
            </a:extLst>
          </p:cNvPr>
          <p:cNvSpPr>
            <a:spLocks noGrp="1"/>
          </p:cNvSpPr>
          <p:nvPr/>
        </p:nvSpPr>
        <p:spPr>
          <a:xfrm>
            <a:off x="361950" y="2819400"/>
            <a:ext cx="1390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产品骨架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8C770-AD99-44CF-8906-647ABE55A2AA}"/>
              </a:ext>
            </a:extLst>
          </p:cNvPr>
          <p:cNvSpPr>
            <a:spLocks noGrp="1"/>
          </p:cNvSpPr>
          <p:nvPr/>
        </p:nvSpPr>
        <p:spPr>
          <a:xfrm>
            <a:off x="361950" y="32956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E625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258"/>
                </a:solidFill>
                <a:latin typeface="Menlo"/>
                <a:ea typeface="Menlo"/>
                <a:cs typeface="Menlo"/>
              </a:rPr>
              <a:t>MVP baseline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3C76F4-E189-41EE-837B-0B7E90047AF0}"/>
              </a:ext>
            </a:extLst>
          </p:cNvPr>
          <p:cNvSpPr>
            <a:spLocks noGrp="1"/>
          </p:cNvSpPr>
          <p:nvPr/>
        </p:nvSpPr>
        <p:spPr>
          <a:xfrm>
            <a:off x="2686050" y="2238375"/>
            <a:ext cx="400050" cy="400050"/>
          </a:xfrm>
          <a:prstGeom prst="ellipse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#2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B331F-067A-440D-A185-AAA34B1D406B}"/>
              </a:ext>
            </a:extLst>
          </p:cNvPr>
          <p:cNvSpPr>
            <a:spLocks noGrp="1"/>
          </p:cNvSpPr>
          <p:nvPr/>
        </p:nvSpPr>
        <p:spPr>
          <a:xfrm>
            <a:off x="2190750" y="2819400"/>
            <a:ext cx="1390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数据 / Agent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A25CC2-32FA-4D9B-9886-A001655F0C99}"/>
              </a:ext>
            </a:extLst>
          </p:cNvPr>
          <p:cNvSpPr>
            <a:spLocks noGrp="1"/>
          </p:cNvSpPr>
          <p:nvPr/>
        </p:nvSpPr>
        <p:spPr>
          <a:xfrm>
            <a:off x="2190750" y="32956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E625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258"/>
                </a:solidFill>
                <a:latin typeface="Menlo"/>
                <a:ea typeface="Menlo"/>
                <a:cs typeface="Menlo"/>
              </a:rPr>
              <a:t>core pipeline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1220A4-542A-4F15-8000-C041162B316D}"/>
              </a:ext>
            </a:extLst>
          </p:cNvPr>
          <p:cNvSpPr>
            <a:spLocks noGrp="1"/>
          </p:cNvSpPr>
          <p:nvPr/>
        </p:nvSpPr>
        <p:spPr>
          <a:xfrm>
            <a:off x="4514850" y="2238375"/>
            <a:ext cx="400050" cy="400050"/>
          </a:xfrm>
          <a:prstGeom prst="ellipse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#3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4CE566-C402-4B4E-A1CD-64055FDBFE40}"/>
              </a:ext>
            </a:extLst>
          </p:cNvPr>
          <p:cNvSpPr>
            <a:spLocks noGrp="1"/>
          </p:cNvSpPr>
          <p:nvPr/>
        </p:nvSpPr>
        <p:spPr>
          <a:xfrm>
            <a:off x="4019550" y="2819400"/>
            <a:ext cx="1390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Benchmark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0A6509-21BC-4483-B30F-ACB27C9964BC}"/>
              </a:ext>
            </a:extLst>
          </p:cNvPr>
          <p:cNvSpPr>
            <a:spLocks noGrp="1"/>
          </p:cNvSpPr>
          <p:nvPr/>
        </p:nvSpPr>
        <p:spPr>
          <a:xfrm>
            <a:off x="4019550" y="32956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E625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258"/>
                </a:solidFill>
                <a:latin typeface="Menlo"/>
                <a:ea typeface="Menlo"/>
                <a:cs typeface="Menlo"/>
              </a:rPr>
              <a:t>evaluation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2C2CBE-C47E-4826-AA50-71FFFCD845DD}"/>
              </a:ext>
            </a:extLst>
          </p:cNvPr>
          <p:cNvSpPr>
            <a:spLocks noGrp="1"/>
          </p:cNvSpPr>
          <p:nvPr/>
        </p:nvSpPr>
        <p:spPr>
          <a:xfrm>
            <a:off x="6343650" y="2238375"/>
            <a:ext cx="400050" cy="400050"/>
          </a:xfrm>
          <a:prstGeom prst="ellipse">
            <a:avLst/>
          </a:prstGeom>
          <a:solidFill>
            <a:srgbClr val="B88A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#4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49B9AA-981C-4A9C-97DC-0FA94CE0381B}"/>
              </a:ext>
            </a:extLst>
          </p:cNvPr>
          <p:cNvSpPr>
            <a:spLocks noGrp="1"/>
          </p:cNvSpPr>
          <p:nvPr/>
        </p:nvSpPr>
        <p:spPr>
          <a:xfrm>
            <a:off x="5848350" y="2819400"/>
            <a:ext cx="1390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Release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D956B5-29F3-4F6F-9A82-4B67203748ED}"/>
              </a:ext>
            </a:extLst>
          </p:cNvPr>
          <p:cNvSpPr>
            <a:spLocks noGrp="1"/>
          </p:cNvSpPr>
          <p:nvPr/>
        </p:nvSpPr>
        <p:spPr>
          <a:xfrm>
            <a:off x="5848350" y="32956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E625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258"/>
                </a:solidFill>
                <a:latin typeface="Menlo"/>
                <a:ea typeface="Menlo"/>
                <a:cs typeface="Menlo"/>
              </a:rPr>
              <a:t>v0.9 gate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24FD7B4-FF88-4D73-A1FB-CFB8DF2B83BB}"/>
              </a:ext>
            </a:extLst>
          </p:cNvPr>
          <p:cNvSpPr>
            <a:spLocks noGrp="1"/>
          </p:cNvSpPr>
          <p:nvPr/>
        </p:nvSpPr>
        <p:spPr>
          <a:xfrm>
            <a:off x="8172450" y="2238375"/>
            <a:ext cx="400050" cy="4000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#5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348F18-FB0B-487B-811E-01E404B9220D}"/>
              </a:ext>
            </a:extLst>
          </p:cNvPr>
          <p:cNvSpPr>
            <a:spLocks noGrp="1"/>
          </p:cNvSpPr>
          <p:nvPr/>
        </p:nvSpPr>
        <p:spPr>
          <a:xfrm>
            <a:off x="7677150" y="2819400"/>
            <a:ext cx="1390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Hotfix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FC4AA4-994E-403C-BBCA-7421AD7AE9F2}"/>
              </a:ext>
            </a:extLst>
          </p:cNvPr>
          <p:cNvSpPr>
            <a:spLocks noGrp="1"/>
          </p:cNvSpPr>
          <p:nvPr/>
        </p:nvSpPr>
        <p:spPr>
          <a:xfrm>
            <a:off x="7677150" y="32956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E625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258"/>
                </a:solidFill>
                <a:latin typeface="Menlo"/>
                <a:ea typeface="Menlo"/>
                <a:cs typeface="Menlo"/>
              </a:rPr>
              <a:t>path + lifecycle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F975D15-440A-486F-B03D-2B34230ED293}"/>
              </a:ext>
            </a:extLst>
          </p:cNvPr>
          <p:cNvSpPr>
            <a:spLocks noGrp="1"/>
          </p:cNvSpPr>
          <p:nvPr/>
        </p:nvSpPr>
        <p:spPr>
          <a:xfrm>
            <a:off x="10001250" y="2238375"/>
            <a:ext cx="400050" cy="400050"/>
          </a:xfrm>
          <a:prstGeom prst="ellipse">
            <a:avLst/>
          </a:prstGeom>
          <a:solidFill>
            <a:srgbClr val="A4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#6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E36A37-84EC-42B1-86C3-BE484CB3C202}"/>
              </a:ext>
            </a:extLst>
          </p:cNvPr>
          <p:cNvSpPr>
            <a:spLocks noGrp="1"/>
          </p:cNvSpPr>
          <p:nvPr/>
        </p:nvSpPr>
        <p:spPr>
          <a:xfrm>
            <a:off x="9505950" y="2819400"/>
            <a:ext cx="1390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Hardening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486012-446D-4712-94A4-28FAF397DDFB}"/>
              </a:ext>
            </a:extLst>
          </p:cNvPr>
          <p:cNvSpPr>
            <a:spLocks noGrp="1"/>
          </p:cNvSpPr>
          <p:nvPr/>
        </p:nvSpPr>
        <p:spPr>
          <a:xfrm>
            <a:off x="9505950" y="32956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E625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E6258"/>
                </a:solidFill>
                <a:latin typeface="Menlo"/>
                <a:ea typeface="Menlo"/>
                <a:cs typeface="Menlo"/>
              </a:rPr>
              <a:t>conversation lifecycle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A4DD469-C228-4537-AF1B-5C6982690672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5200650" cy="1885950"/>
          </a:xfrm>
          <a:prstGeom prst="roundRect">
            <a:avLst>
              <a:gd name="adj" fmla="val 404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9139CE-88E7-41B7-9FD0-19D4E1B79159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版本演进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FEA6B3C-4549-46E5-9A58-DDE09EBE5877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1466850" cy="257175"/>
          </a:xfrm>
          <a:prstGeom prst="roundRect">
            <a:avLst>
              <a:gd name="adj" fmla="val 29630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v0.9-mvp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F16B71-8A1E-4509-B211-26390AE7B568}"/>
              </a:ext>
            </a:extLst>
          </p:cNvPr>
          <p:cNvSpPr>
            <a:spLocks noGrp="1"/>
          </p:cNvSpPr>
          <p:nvPr/>
        </p:nvSpPr>
        <p:spPr>
          <a:xfrm>
            <a:off x="2457450" y="441007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0631163-1E9E-4F08-B5DD-529C92DF8372}"/>
              </a:ext>
            </a:extLst>
          </p:cNvPr>
          <p:cNvSpPr>
            <a:spLocks noGrp="1"/>
          </p:cNvSpPr>
          <p:nvPr/>
        </p:nvSpPr>
        <p:spPr>
          <a:xfrm>
            <a:off x="819150" y="4733925"/>
            <a:ext cx="1466850" cy="257175"/>
          </a:xfrm>
          <a:prstGeom prst="roundRect">
            <a:avLst>
              <a:gd name="adj" fmla="val 29630"/>
            </a:avLst>
          </a:prstGeom>
          <a:solidFill>
            <a:srgbClr val="DDEA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v0.9.1-mvp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2E3CEF-D871-449B-B451-B850A2BDB190}"/>
              </a:ext>
            </a:extLst>
          </p:cNvPr>
          <p:cNvSpPr>
            <a:spLocks noGrp="1"/>
          </p:cNvSpPr>
          <p:nvPr/>
        </p:nvSpPr>
        <p:spPr>
          <a:xfrm>
            <a:off x="2457450" y="47815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F6B5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F6B57"/>
                </a:solidFill>
                <a:latin typeface="PingFang SC"/>
                <a:ea typeface="PingFang SC"/>
                <a:cs typeface="PingFang SC"/>
              </a:rPr>
              <a:t>已发布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178A737-D0F6-4263-B802-AC2A373DBE72}"/>
              </a:ext>
            </a:extLst>
          </p:cNvPr>
          <p:cNvSpPr>
            <a:spLocks noGrp="1"/>
          </p:cNvSpPr>
          <p:nvPr/>
        </p:nvSpPr>
        <p:spPr>
          <a:xfrm>
            <a:off x="819150" y="5105400"/>
            <a:ext cx="1466850" cy="257175"/>
          </a:xfrm>
          <a:prstGeom prst="roundRect">
            <a:avLst>
              <a:gd name="adj" fmla="val 29630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v0.9.2-mvp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44E9CC-CE7C-4BAD-A07C-2DB4764DB8A2}"/>
              </a:ext>
            </a:extLst>
          </p:cNvPr>
          <p:cNvSpPr>
            <a:spLocks noGrp="1"/>
          </p:cNvSpPr>
          <p:nvPr/>
        </p:nvSpPr>
        <p:spPr>
          <a:xfrm>
            <a:off x="2457450" y="515302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待 push + annotated tag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4E8C908-BA7C-4820-8FD2-D12040FB8A99}"/>
              </a:ext>
            </a:extLst>
          </p:cNvPr>
          <p:cNvSpPr>
            <a:spLocks noGrp="1"/>
          </p:cNvSpPr>
          <p:nvPr/>
        </p:nvSpPr>
        <p:spPr>
          <a:xfrm>
            <a:off x="6096000" y="3714750"/>
            <a:ext cx="5505450" cy="1885950"/>
          </a:xfrm>
          <a:prstGeom prst="roundRect">
            <a:avLst>
              <a:gd name="adj" fmla="val 4040"/>
            </a:avLst>
          </a:prstGeom>
          <a:solidFill>
            <a:srgbClr val="FFFDF9"/>
          </a:solidFill>
          <a:ln w="9525">
            <a:solidFill>
              <a:srgbClr val="D8CC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D30DD7-C3FC-4ECE-865C-1F3B13CDAA42}"/>
              </a:ext>
            </a:extLst>
          </p:cNvPr>
          <p:cNvSpPr>
            <a:spLocks noGrp="1"/>
          </p:cNvSpPr>
          <p:nvPr/>
        </p:nvSpPr>
        <p:spPr>
          <a:xfrm>
            <a:off x="6324600" y="3924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发布文档如何闭环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A559F3A-50FF-484B-BA2B-9A508A03A77A}"/>
              </a:ext>
            </a:extLst>
          </p:cNvPr>
          <p:cNvSpPr>
            <a:spLocks noGrp="1"/>
          </p:cNvSpPr>
          <p:nvPr/>
        </p:nvSpPr>
        <p:spPr>
          <a:xfrm>
            <a:off x="6324600" y="4343400"/>
            <a:ext cx="1257300" cy="209550"/>
          </a:xfrm>
          <a:prstGeom prst="roundRect">
            <a:avLst>
              <a:gd name="adj" fmla="val 36364"/>
            </a:avLst>
          </a:prstGeom>
          <a:solidFill>
            <a:srgbClr val="F1E7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Release note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E5F3C0-1372-4F97-85F8-AE302087BC63}"/>
              </a:ext>
            </a:extLst>
          </p:cNvPr>
          <p:cNvSpPr>
            <a:spLocks noGrp="1"/>
          </p:cNvSpPr>
          <p:nvPr/>
        </p:nvSpPr>
        <p:spPr>
          <a:xfrm>
            <a:off x="7734300" y="4343400"/>
            <a:ext cx="3524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冻结本版能力与修复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6E320A5-F9DC-4B51-A711-D99C743BE17A}"/>
              </a:ext>
            </a:extLst>
          </p:cNvPr>
          <p:cNvSpPr>
            <a:spLocks noGrp="1"/>
          </p:cNvSpPr>
          <p:nvPr/>
        </p:nvSpPr>
        <p:spPr>
          <a:xfrm>
            <a:off x="6324600" y="4638675"/>
            <a:ext cx="1257300" cy="209550"/>
          </a:xfrm>
          <a:prstGeom prst="roundRect">
            <a:avLst>
              <a:gd name="adj" fmla="val 36364"/>
            </a:avLst>
          </a:prstGeom>
          <a:solidFill>
            <a:srgbClr val="F1E7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QA report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C154F2-F11B-4D07-B64D-9462CB178830}"/>
              </a:ext>
            </a:extLst>
          </p:cNvPr>
          <p:cNvSpPr>
            <a:spLocks noGrp="1"/>
          </p:cNvSpPr>
          <p:nvPr/>
        </p:nvSpPr>
        <p:spPr>
          <a:xfrm>
            <a:off x="7734300" y="4638675"/>
            <a:ext cx="3524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记录 Gate 与真实浏览器证据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62466BC-5DBD-47C6-9359-62E889964E6E}"/>
              </a:ext>
            </a:extLst>
          </p:cNvPr>
          <p:cNvSpPr>
            <a:spLocks noGrp="1"/>
          </p:cNvSpPr>
          <p:nvPr/>
        </p:nvSpPr>
        <p:spPr>
          <a:xfrm>
            <a:off x="6324600" y="4933950"/>
            <a:ext cx="1257300" cy="209550"/>
          </a:xfrm>
          <a:prstGeom prst="roundRect">
            <a:avLst>
              <a:gd name="adj" fmla="val 36364"/>
            </a:avLst>
          </a:prstGeom>
          <a:solidFill>
            <a:srgbClr val="F1E7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Known limitations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E36E8B-77D1-4635-9D4A-2FB723C45001}"/>
              </a:ext>
            </a:extLst>
          </p:cNvPr>
          <p:cNvSpPr>
            <a:spLocks noGrp="1"/>
          </p:cNvSpPr>
          <p:nvPr/>
        </p:nvSpPr>
        <p:spPr>
          <a:xfrm>
            <a:off x="7734300" y="4933950"/>
            <a:ext cx="3524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把非 P0/P1 问题显式交付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A39ADCC-FEB8-4B5F-AD4A-32C0883AABB3}"/>
              </a:ext>
            </a:extLst>
          </p:cNvPr>
          <p:cNvSpPr>
            <a:spLocks noGrp="1"/>
          </p:cNvSpPr>
          <p:nvPr/>
        </p:nvSpPr>
        <p:spPr>
          <a:xfrm>
            <a:off x="6324600" y="5229225"/>
            <a:ext cx="1257300" cy="209550"/>
          </a:xfrm>
          <a:prstGeom prst="roundRect">
            <a:avLst>
              <a:gd name="adj" fmla="val 36364"/>
            </a:avLst>
          </a:prstGeom>
          <a:solidFill>
            <a:srgbClr val="F1E7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88A3E"/>
                </a:solidFill>
                <a:latin typeface="PingFang SC"/>
                <a:ea typeface="PingFang SC"/>
                <a:cs typeface="PingFang SC"/>
              </a:rPr>
              <a:t>Backlog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B8E05F-B9EA-49E2-8FF7-54B81AB0572B}"/>
              </a:ext>
            </a:extLst>
          </p:cNvPr>
          <p:cNvSpPr>
            <a:spLocks noGrp="1"/>
          </p:cNvSpPr>
          <p:nvPr/>
        </p:nvSpPr>
        <p:spPr>
          <a:xfrm>
            <a:off x="7734300" y="5229225"/>
            <a:ext cx="35242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11A16"/>
                </a:solidFill>
                <a:latin typeface="PingFang SC"/>
                <a:ea typeface="PingFang SC"/>
                <a:cs typeface="PingFang SC"/>
              </a:rPr>
              <a:t>将剩余风险转成下一版本输入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E919271-C176-4E27-B618-8BCD365F8D77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304800"/>
          </a:xfrm>
          <a:prstGeom prst="roundRect">
            <a:avLst>
              <a:gd name="adj" fmla="val 25000"/>
            </a:avLst>
          </a:prstGeom>
          <a:solidFill>
            <a:srgbClr val="F1DE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19050" rIns="76200" bIns="19050" anchor="ctr"/>
          <a:lstStyle/>
          <a:p>
            <a:pPr algn="ctr">
              <a:def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4472F"/>
                </a:solidFill>
                <a:latin typeface="PingFang SC"/>
                <a:ea typeface="PingFang SC"/>
                <a:cs typeface="PingFang SC"/>
              </a:rPr>
              <a:t>当前现场事实：main 比 origin/main 多 2 个已验证提交；v0.9.2-mvp 尚未创建</a:t>
            </a:r>
          </a:p>
        </p:txBody>
      </p:sp>
    </p:spTree>
    <p:extLst>
      <p:ext uri="{BB962C8B-B14F-4D97-AF65-F5344CB8AC3E}">
        <p14:creationId xmlns:p14="http://schemas.microsoft.com/office/powerpoint/2010/main" val="6086175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1363</Words>
  <Application>Microsoft Macintosh PowerPoint</Application>
  <DocSecurity>0</DocSecurity>
  <PresentationFormat>Widescreen</PresentationFormat>
  <Paragraphs>432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PingFang SC</vt:lpstr>
      <vt:lpstr>Songti SC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Natalia Chen</cp:lastModifiedBy>
  <cp:revision>1</cp:revision>
  <dcterms:created xsi:type="dcterms:W3CDTF">2026-07-21T04:40:56Z</dcterms:created>
  <dcterms:modified xsi:type="dcterms:W3CDTF">2026-07-21T05:01:09Z</dcterms:modified>
</cp:coreProperties>
</file>